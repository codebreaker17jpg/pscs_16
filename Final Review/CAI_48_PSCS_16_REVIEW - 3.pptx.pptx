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Cambria Bold" charset="1" panose="02040803050406030204"/>
      <p:regular r:id="rId22"/>
    </p:embeddedFont>
    <p:embeddedFont>
      <p:font typeface="Cambria" charset="1" panose="02040503050406030204"/>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notesMasters/notesMaster1.xml" Type="http://schemas.openxmlformats.org/officeDocument/2006/relationships/notesMaster"/><Relationship Id="rId2" Target="presProps.xml" Type="http://schemas.openxmlformats.org/officeDocument/2006/relationships/presProps"/><Relationship Id="rId20" Target="theme/theme2.xml" Type="http://schemas.openxmlformats.org/officeDocument/2006/relationships/theme"/><Relationship Id="rId21" Target="notesSlides/notesSlide1.xml" Type="http://schemas.openxmlformats.org/officeDocument/2006/relationships/notesSlide"/><Relationship Id="rId22" Target="fonts/font22.fntdata" Type="http://schemas.openxmlformats.org/officeDocument/2006/relationships/font"/><Relationship Id="rId23" Target="notesSlides/notesSlide2.xml" Type="http://schemas.openxmlformats.org/officeDocument/2006/relationships/notesSlide"/><Relationship Id="rId24" Target="fonts/font24.fntdata" Type="http://schemas.openxmlformats.org/officeDocument/2006/relationships/font"/><Relationship Id="rId25" Target="notesSlides/notesSlide3.xml" Type="http://schemas.openxmlformats.org/officeDocument/2006/relationships/notesSlide"/><Relationship Id="rId26" Target="notesSlides/notesSlide4.xml" Type="http://schemas.openxmlformats.org/officeDocument/2006/relationships/notesSlide"/><Relationship Id="rId27" Target="notesSlides/notesSlide5.xml" Type="http://schemas.openxmlformats.org/officeDocument/2006/relationships/notesSlide"/><Relationship Id="rId28" Target="notesSlides/notesSlide6.xml" Type="http://schemas.openxmlformats.org/officeDocument/2006/relationships/notesSlide"/><Relationship Id="rId29" Target="notesSlides/notesSlide7.xml" Type="http://schemas.openxmlformats.org/officeDocument/2006/relationships/notesSlide"/><Relationship Id="rId3" Target="viewProps.xml" Type="http://schemas.openxmlformats.org/officeDocument/2006/relationships/viewProps"/><Relationship Id="rId30" Target="notesSlides/notesSlide8.xml" Type="http://schemas.openxmlformats.org/officeDocument/2006/relationships/notesSlide"/><Relationship Id="rId31" Target="notesSlides/notesSlide9.xml" Type="http://schemas.openxmlformats.org/officeDocument/2006/relationships/notesSlide"/><Relationship Id="rId32" Target="notesSlides/notesSlide10.xml" Type="http://schemas.openxmlformats.org/officeDocument/2006/relationships/notesSlide"/><Relationship Id="rId33" Target="notesSlides/notesSlide11.xml" Type="http://schemas.openxmlformats.org/officeDocument/2006/relationships/notesSlide"/><Relationship Id="rId34" Target="notesSlides/notesSlide12.xml" Type="http://schemas.openxmlformats.org/officeDocument/2006/relationships/notesSlide"/><Relationship Id="rId35" Target="notesSlides/notesSlide13.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png" Type="http://schemas.openxmlformats.org/officeDocument/2006/relationships/image"/><Relationship Id="rId4" Target="https://github.com/codebreaker17jpg/PGRKAM" TargetMode="External" Type="http://schemas.openxmlformats.org/officeDocument/2006/relationships/hyperlink"/></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png" Type="http://schemas.openxmlformats.org/officeDocument/2006/relationships/image"/><Relationship Id="rId4" Target="../media/image1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18318">
            <a:off x="1176223" y="1352550"/>
            <a:ext cx="16087953" cy="0"/>
          </a:xfrm>
          <a:prstGeom prst="line">
            <a:avLst/>
          </a:prstGeom>
          <a:ln cap="rnd" w="47625">
            <a:solidFill>
              <a:srgbClr val="000000"/>
            </a:solidFill>
            <a:prstDash val="solid"/>
            <a:headEnd type="none" len="sm" w="sm"/>
            <a:tailEnd type="none" len="sm" w="sm"/>
          </a:ln>
        </p:spPr>
      </p:sp>
      <p:grpSp>
        <p:nvGrpSpPr>
          <p:cNvPr name="Group 3" id="3"/>
          <p:cNvGrpSpPr>
            <a:grpSpLocks noChangeAspect="true"/>
          </p:cNvGrpSpPr>
          <p:nvPr/>
        </p:nvGrpSpPr>
        <p:grpSpPr>
          <a:xfrm rot="0">
            <a:off x="0" y="8987049"/>
            <a:ext cx="18288002" cy="1299949"/>
            <a:chOff x="0" y="0"/>
            <a:chExt cx="24384002" cy="1733266"/>
          </a:xfrm>
        </p:grpSpPr>
        <p:sp>
          <p:nvSpPr>
            <p:cNvPr name="Freeform 4" id="4"/>
            <p:cNvSpPr/>
            <p:nvPr/>
          </p:nvSpPr>
          <p:spPr>
            <a:xfrm flipH="false" flipV="false" rot="0">
              <a:off x="0" y="0"/>
              <a:ext cx="24384000" cy="1733296"/>
            </a:xfrm>
            <a:custGeom>
              <a:avLst/>
              <a:gdLst/>
              <a:ahLst/>
              <a:cxnLst/>
              <a:rect r="r" b="b" t="t" l="l"/>
              <a:pathLst>
                <a:path h="1733296" w="24384000">
                  <a:moveTo>
                    <a:pt x="0" y="0"/>
                  </a:moveTo>
                  <a:lnTo>
                    <a:pt x="24384000" y="0"/>
                  </a:lnTo>
                  <a:lnTo>
                    <a:pt x="24384000" y="1733296"/>
                  </a:lnTo>
                  <a:lnTo>
                    <a:pt x="0" y="1733296"/>
                  </a:lnTo>
                  <a:lnTo>
                    <a:pt x="0" y="0"/>
                  </a:lnTo>
                  <a:close/>
                </a:path>
              </a:pathLst>
            </a:custGeom>
            <a:blipFill>
              <a:blip r:embed="rId3"/>
              <a:stretch>
                <a:fillRect l="0" t="0" r="0" b="-171062"/>
              </a:stretch>
            </a:blipFill>
          </p:spPr>
        </p:sp>
      </p:grpSp>
      <p:grpSp>
        <p:nvGrpSpPr>
          <p:cNvPr name="Group 5" id="5"/>
          <p:cNvGrpSpPr/>
          <p:nvPr/>
        </p:nvGrpSpPr>
        <p:grpSpPr>
          <a:xfrm rot="0">
            <a:off x="1176337" y="886143"/>
            <a:ext cx="15544800" cy="2637160"/>
            <a:chOff x="0" y="0"/>
            <a:chExt cx="20726400" cy="3516213"/>
          </a:xfrm>
        </p:grpSpPr>
        <p:sp>
          <p:nvSpPr>
            <p:cNvPr name="Freeform 6" id="6"/>
            <p:cNvSpPr/>
            <p:nvPr/>
          </p:nvSpPr>
          <p:spPr>
            <a:xfrm flipH="false" flipV="false" rot="0">
              <a:off x="0" y="0"/>
              <a:ext cx="20726400" cy="3516213"/>
            </a:xfrm>
            <a:custGeom>
              <a:avLst/>
              <a:gdLst/>
              <a:ahLst/>
              <a:cxnLst/>
              <a:rect r="r" b="b" t="t" l="l"/>
              <a:pathLst>
                <a:path h="3516213" w="20726400">
                  <a:moveTo>
                    <a:pt x="0" y="0"/>
                  </a:moveTo>
                  <a:lnTo>
                    <a:pt x="20726400" y="0"/>
                  </a:lnTo>
                  <a:lnTo>
                    <a:pt x="20726400" y="3516213"/>
                  </a:lnTo>
                  <a:lnTo>
                    <a:pt x="0" y="3516213"/>
                  </a:lnTo>
                  <a:close/>
                </a:path>
              </a:pathLst>
            </a:custGeom>
            <a:solidFill>
              <a:srgbClr val="000000">
                <a:alpha val="0"/>
              </a:srgbClr>
            </a:solidFill>
          </p:spPr>
        </p:sp>
        <p:sp>
          <p:nvSpPr>
            <p:cNvPr name="TextBox 7" id="7"/>
            <p:cNvSpPr txBox="true"/>
            <p:nvPr/>
          </p:nvSpPr>
          <p:spPr>
            <a:xfrm>
              <a:off x="0" y="-19050"/>
              <a:ext cx="20726400" cy="3535263"/>
            </a:xfrm>
            <a:prstGeom prst="rect">
              <a:avLst/>
            </a:prstGeom>
          </p:spPr>
          <p:txBody>
            <a:bodyPr anchor="ctr" rtlCol="false" tIns="0" lIns="0" bIns="0" rIns="0"/>
            <a:lstStyle/>
            <a:p>
              <a:pPr algn="ctr">
                <a:lnSpc>
                  <a:spcPts val="4320"/>
                </a:lnSpc>
              </a:pPr>
              <a:r>
                <a:rPr lang="en-US" b="true" sz="3600">
                  <a:solidFill>
                    <a:srgbClr val="000000"/>
                  </a:solidFill>
                  <a:latin typeface="Cambria Bold"/>
                  <a:ea typeface="Cambria Bold"/>
                  <a:cs typeface="Cambria Bold"/>
                  <a:sym typeface="Cambria Bold"/>
                </a:rPr>
                <a:t>ANALYTICS AND </a:t>
              </a:r>
              <a:r>
                <a:rPr lang="en-US" b="true" sz="3600">
                  <a:solidFill>
                    <a:srgbClr val="000000"/>
                  </a:solidFill>
                  <a:latin typeface="Cambria Bold"/>
                  <a:ea typeface="Cambria Bold"/>
                  <a:cs typeface="Cambria Bold"/>
                  <a:sym typeface="Cambria Bold"/>
                </a:rPr>
                <a:t>RECOMMENDATION SYSTEM FOR PGRKAM PLATFORM</a:t>
              </a:r>
            </a:p>
          </p:txBody>
        </p:sp>
      </p:grpSp>
      <p:sp>
        <p:nvSpPr>
          <p:cNvPr name="TextBox 8" id="8"/>
          <p:cNvSpPr txBox="true"/>
          <p:nvPr/>
        </p:nvSpPr>
        <p:spPr>
          <a:xfrm rot="0">
            <a:off x="1277127" y="2865605"/>
            <a:ext cx="6403846" cy="428625"/>
          </a:xfrm>
          <a:prstGeom prst="rect">
            <a:avLst/>
          </a:prstGeom>
        </p:spPr>
        <p:txBody>
          <a:bodyPr anchor="t" rtlCol="false" tIns="0" lIns="0" bIns="0" rIns="0">
            <a:spAutoFit/>
          </a:bodyPr>
          <a:lstStyle/>
          <a:p>
            <a:pPr algn="l">
              <a:lnSpc>
                <a:spcPts val="3240"/>
              </a:lnSpc>
            </a:pPr>
            <a:r>
              <a:rPr lang="en-US" b="true" sz="2700">
                <a:solidFill>
                  <a:srgbClr val="17365D"/>
                </a:solidFill>
                <a:latin typeface="Cambria Bold"/>
                <a:ea typeface="Cambria Bold"/>
                <a:cs typeface="Cambria Bold"/>
                <a:sym typeface="Cambria Bold"/>
              </a:rPr>
              <a:t>Batch Number:  </a:t>
            </a:r>
            <a:r>
              <a:rPr lang="en-US" b="true" sz="2700">
                <a:solidFill>
                  <a:srgbClr val="FF0000"/>
                </a:solidFill>
                <a:latin typeface="Cambria Bold"/>
                <a:ea typeface="Cambria Bold"/>
                <a:cs typeface="Cambria Bold"/>
                <a:sym typeface="Cambria Bold"/>
              </a:rPr>
              <a:t>CAI - 48</a:t>
            </a:r>
          </a:p>
        </p:txBody>
      </p:sp>
      <p:sp>
        <p:nvSpPr>
          <p:cNvPr name="TextBox 9" id="9"/>
          <p:cNvSpPr txBox="true"/>
          <p:nvPr/>
        </p:nvSpPr>
        <p:spPr>
          <a:xfrm rot="0">
            <a:off x="9811718" y="3796660"/>
            <a:ext cx="8088600" cy="2714625"/>
          </a:xfrm>
          <a:prstGeom prst="rect">
            <a:avLst/>
          </a:prstGeom>
        </p:spPr>
        <p:txBody>
          <a:bodyPr anchor="t" rtlCol="false" tIns="0" lIns="0" bIns="0" rIns="0">
            <a:spAutoFit/>
          </a:bodyPr>
          <a:lstStyle/>
          <a:p>
            <a:pPr algn="ctr">
              <a:lnSpc>
                <a:spcPts val="3240"/>
              </a:lnSpc>
            </a:pPr>
            <a:r>
              <a:rPr lang="en-US" b="true" sz="2700">
                <a:solidFill>
                  <a:srgbClr val="17365D"/>
                </a:solidFill>
                <a:latin typeface="Cambria Bold"/>
                <a:ea typeface="Cambria Bold"/>
                <a:cs typeface="Cambria Bold"/>
                <a:sym typeface="Cambria Bold"/>
              </a:rPr>
              <a:t>Under the Supervision of,</a:t>
            </a:r>
          </a:p>
          <a:p>
            <a:pPr algn="ctr">
              <a:lnSpc>
                <a:spcPts val="3060"/>
              </a:lnSpc>
            </a:pPr>
          </a:p>
          <a:p>
            <a:pPr algn="l">
              <a:lnSpc>
                <a:spcPts val="3060"/>
              </a:lnSpc>
            </a:pPr>
            <a:r>
              <a:rPr lang="en-US" b="true" sz="2550">
                <a:solidFill>
                  <a:srgbClr val="17365D"/>
                </a:solidFill>
                <a:latin typeface="Cambria Bold"/>
                <a:ea typeface="Cambria Bold"/>
                <a:cs typeface="Cambria Bold"/>
                <a:sym typeface="Cambria Bold"/>
              </a:rPr>
              <a:t>Dr. Selvaganesh R</a:t>
            </a:r>
          </a:p>
          <a:p>
            <a:pPr algn="l">
              <a:lnSpc>
                <a:spcPts val="3060"/>
              </a:lnSpc>
            </a:pPr>
            <a:r>
              <a:rPr lang="en-US" b="true" sz="2550">
                <a:solidFill>
                  <a:srgbClr val="17365D"/>
                </a:solidFill>
                <a:latin typeface="Cambria Bold"/>
                <a:ea typeface="Cambria Bold"/>
                <a:cs typeface="Cambria Bold"/>
                <a:sym typeface="Cambria Bold"/>
              </a:rPr>
              <a:t>Asst. Professor</a:t>
            </a:r>
          </a:p>
          <a:p>
            <a:pPr algn="l">
              <a:lnSpc>
                <a:spcPts val="3060"/>
              </a:lnSpc>
            </a:pPr>
            <a:r>
              <a:rPr lang="en-US" b="true" sz="2550">
                <a:solidFill>
                  <a:srgbClr val="17365D"/>
                </a:solidFill>
                <a:latin typeface="Cambria Bold"/>
                <a:ea typeface="Cambria Bold"/>
                <a:cs typeface="Cambria Bold"/>
                <a:sym typeface="Cambria Bold"/>
              </a:rPr>
              <a:t>School of Computer Science and Engineering</a:t>
            </a:r>
          </a:p>
          <a:p>
            <a:pPr algn="l">
              <a:lnSpc>
                <a:spcPts val="3060"/>
              </a:lnSpc>
            </a:pPr>
            <a:r>
              <a:rPr lang="en-US" b="true" sz="2550">
                <a:solidFill>
                  <a:srgbClr val="17365D"/>
                </a:solidFill>
                <a:latin typeface="Cambria Bold"/>
                <a:ea typeface="Cambria Bold"/>
                <a:cs typeface="Cambria Bold"/>
                <a:sym typeface="Cambria Bold"/>
              </a:rPr>
              <a:t>Presidency University</a:t>
            </a:r>
          </a:p>
          <a:p>
            <a:pPr algn="l">
              <a:lnSpc>
                <a:spcPts val="3060"/>
              </a:lnSpc>
            </a:pPr>
          </a:p>
        </p:txBody>
      </p:sp>
      <p:sp>
        <p:nvSpPr>
          <p:cNvPr name="TextBox 10" id="10"/>
          <p:cNvSpPr txBox="true"/>
          <p:nvPr/>
        </p:nvSpPr>
        <p:spPr>
          <a:xfrm rot="0">
            <a:off x="5111195" y="190500"/>
            <a:ext cx="8065610" cy="838200"/>
          </a:xfrm>
          <a:prstGeom prst="rect">
            <a:avLst/>
          </a:prstGeom>
        </p:spPr>
        <p:txBody>
          <a:bodyPr anchor="t" rtlCol="false" tIns="0" lIns="0" bIns="0" rIns="0">
            <a:spAutoFit/>
          </a:bodyPr>
          <a:lstStyle/>
          <a:p>
            <a:pPr algn="ctr">
              <a:lnSpc>
                <a:spcPts val="3240"/>
              </a:lnSpc>
            </a:pPr>
            <a:r>
              <a:rPr lang="en-US" b="true" sz="2700">
                <a:solidFill>
                  <a:srgbClr val="17365D"/>
                </a:solidFill>
                <a:latin typeface="Cambria Bold"/>
                <a:ea typeface="Cambria Bold"/>
                <a:cs typeface="Cambria Bold"/>
                <a:sym typeface="Cambria Bold"/>
              </a:rPr>
              <a:t>CSE7101- Capstone Project</a:t>
            </a:r>
          </a:p>
          <a:p>
            <a:pPr algn="ctr">
              <a:lnSpc>
                <a:spcPts val="3240"/>
              </a:lnSpc>
            </a:pPr>
            <a:r>
              <a:rPr lang="en-US" b="true" sz="2700">
                <a:solidFill>
                  <a:srgbClr val="17365D"/>
                </a:solidFill>
                <a:latin typeface="Cambria Bold"/>
                <a:ea typeface="Cambria Bold"/>
                <a:cs typeface="Cambria Bold"/>
                <a:sym typeface="Cambria Bold"/>
              </a:rPr>
              <a:t>Final Review</a:t>
            </a:r>
          </a:p>
        </p:txBody>
      </p:sp>
      <p:sp>
        <p:nvSpPr>
          <p:cNvPr name="TextBox 11" id="11"/>
          <p:cNvSpPr txBox="true"/>
          <p:nvPr/>
        </p:nvSpPr>
        <p:spPr>
          <a:xfrm rot="0">
            <a:off x="1277127" y="6787510"/>
            <a:ext cx="18192022" cy="1657350"/>
          </a:xfrm>
          <a:prstGeom prst="rect">
            <a:avLst/>
          </a:prstGeom>
        </p:spPr>
        <p:txBody>
          <a:bodyPr anchor="t" rtlCol="false" tIns="0" lIns="0" bIns="0" rIns="0">
            <a:spAutoFit/>
          </a:bodyPr>
          <a:lstStyle/>
          <a:p>
            <a:pPr algn="l">
              <a:lnSpc>
                <a:spcPts val="3240"/>
              </a:lnSpc>
            </a:pPr>
            <a:r>
              <a:rPr lang="en-US" b="true" sz="2700">
                <a:solidFill>
                  <a:srgbClr val="4F81BD"/>
                </a:solidFill>
                <a:latin typeface="Cambria Bold"/>
                <a:ea typeface="Cambria Bold"/>
                <a:cs typeface="Cambria Bold"/>
                <a:sym typeface="Cambria Bold"/>
              </a:rPr>
              <a:t>Name of the Program:  </a:t>
            </a:r>
            <a:r>
              <a:rPr lang="en-US" b="true" sz="2700">
                <a:solidFill>
                  <a:srgbClr val="FF0000"/>
                </a:solidFill>
                <a:latin typeface="Cambria Bold"/>
                <a:ea typeface="Cambria Bold"/>
                <a:cs typeface="Cambria Bold"/>
                <a:sym typeface="Cambria Bold"/>
              </a:rPr>
              <a:t>CAI</a:t>
            </a:r>
          </a:p>
          <a:p>
            <a:pPr algn="l">
              <a:lnSpc>
                <a:spcPts val="3240"/>
              </a:lnSpc>
            </a:pPr>
            <a:r>
              <a:rPr lang="en-US" b="true" sz="2700">
                <a:solidFill>
                  <a:srgbClr val="4F81BD"/>
                </a:solidFill>
                <a:latin typeface="Cambria Bold"/>
                <a:ea typeface="Cambria Bold"/>
                <a:cs typeface="Cambria Bold"/>
                <a:sym typeface="Cambria Bold"/>
              </a:rPr>
              <a:t>Name of the HoD: </a:t>
            </a:r>
            <a:r>
              <a:rPr lang="en-US" b="true" sz="2700">
                <a:solidFill>
                  <a:srgbClr val="FF0000"/>
                </a:solidFill>
                <a:latin typeface="Cambria Bold"/>
                <a:ea typeface="Cambria Bold"/>
                <a:cs typeface="Cambria Bold"/>
                <a:sym typeface="Cambria Bold"/>
              </a:rPr>
              <a:t>Dr. Zafar Ali Khan</a:t>
            </a:r>
          </a:p>
          <a:p>
            <a:pPr algn="l">
              <a:lnSpc>
                <a:spcPts val="3240"/>
              </a:lnSpc>
            </a:pPr>
            <a:r>
              <a:rPr lang="en-US" b="true" sz="2700">
                <a:solidFill>
                  <a:srgbClr val="4F81BD"/>
                </a:solidFill>
                <a:latin typeface="Cambria Bold"/>
                <a:ea typeface="Cambria Bold"/>
                <a:cs typeface="Cambria Bold"/>
                <a:sym typeface="Cambria Bold"/>
              </a:rPr>
              <a:t>Name of the Program Project Coordinator: </a:t>
            </a:r>
            <a:r>
              <a:rPr lang="en-US" b="true" sz="2700">
                <a:solidFill>
                  <a:srgbClr val="FF0000"/>
                </a:solidFill>
                <a:latin typeface="Cambria Bold"/>
                <a:ea typeface="Cambria Bold"/>
                <a:cs typeface="Cambria Bold"/>
                <a:sym typeface="Cambria Bold"/>
              </a:rPr>
              <a:t>Dr. Suma NG</a:t>
            </a:r>
          </a:p>
          <a:p>
            <a:pPr algn="l">
              <a:lnSpc>
                <a:spcPts val="3240"/>
              </a:lnSpc>
            </a:pPr>
            <a:r>
              <a:rPr lang="en-US" b="true" sz="2700">
                <a:solidFill>
                  <a:srgbClr val="4F81BD"/>
                </a:solidFill>
                <a:latin typeface="Cambria Bold"/>
                <a:ea typeface="Cambria Bold"/>
                <a:cs typeface="Cambria Bold"/>
                <a:sym typeface="Cambria Bold"/>
              </a:rPr>
              <a:t>Name of the School Project Coordinators: </a:t>
            </a:r>
            <a:r>
              <a:rPr lang="en-US" b="true" sz="2700">
                <a:solidFill>
                  <a:srgbClr val="FF0000"/>
                </a:solidFill>
                <a:latin typeface="Cambria Bold"/>
                <a:ea typeface="Cambria Bold"/>
                <a:cs typeface="Cambria Bold"/>
                <a:sym typeface="Cambria Bold"/>
              </a:rPr>
              <a:t>Dr. Sampath A K , Dr. Geetha A</a:t>
            </a:r>
            <a:r>
              <a:rPr lang="en-US" b="true" sz="2700">
                <a:solidFill>
                  <a:srgbClr val="000000"/>
                </a:solidFill>
                <a:latin typeface="Cambria Bold"/>
                <a:ea typeface="Cambria Bold"/>
                <a:cs typeface="Cambria Bold"/>
                <a:sym typeface="Cambria Bold"/>
              </a:rPr>
              <a:t> </a:t>
            </a:r>
          </a:p>
        </p:txBody>
      </p:sp>
      <p:sp>
        <p:nvSpPr>
          <p:cNvPr name="TextBox 12" id="12"/>
          <p:cNvSpPr txBox="true"/>
          <p:nvPr/>
        </p:nvSpPr>
        <p:spPr>
          <a:xfrm rot="0">
            <a:off x="1277127" y="3789530"/>
            <a:ext cx="2504033" cy="523875"/>
          </a:xfrm>
          <a:prstGeom prst="rect">
            <a:avLst/>
          </a:prstGeom>
        </p:spPr>
        <p:txBody>
          <a:bodyPr anchor="t" rtlCol="false" tIns="0" lIns="0" bIns="0" rIns="0">
            <a:spAutoFit/>
          </a:bodyPr>
          <a:lstStyle/>
          <a:p>
            <a:pPr algn="ctr">
              <a:lnSpc>
                <a:spcPts val="4079"/>
              </a:lnSpc>
              <a:spcBef>
                <a:spcPct val="0"/>
              </a:spcBef>
            </a:pPr>
            <a:r>
              <a:rPr lang="en-US" b="true" sz="3399">
                <a:solidFill>
                  <a:srgbClr val="000000"/>
                </a:solidFill>
                <a:latin typeface="Cambria Bold"/>
                <a:ea typeface="Cambria Bold"/>
                <a:cs typeface="Cambria Bold"/>
                <a:sym typeface="Cambria Bold"/>
              </a:rPr>
              <a:t>Roll Number</a:t>
            </a:r>
          </a:p>
        </p:txBody>
      </p:sp>
      <p:sp>
        <p:nvSpPr>
          <p:cNvPr name="TextBox 13" id="13"/>
          <p:cNvSpPr txBox="true"/>
          <p:nvPr/>
        </p:nvSpPr>
        <p:spPr>
          <a:xfrm rot="0">
            <a:off x="4479050" y="3789530"/>
            <a:ext cx="2775347" cy="523875"/>
          </a:xfrm>
          <a:prstGeom prst="rect">
            <a:avLst/>
          </a:prstGeom>
        </p:spPr>
        <p:txBody>
          <a:bodyPr anchor="t" rtlCol="false" tIns="0" lIns="0" bIns="0" rIns="0">
            <a:spAutoFit/>
          </a:bodyPr>
          <a:lstStyle/>
          <a:p>
            <a:pPr algn="ctr">
              <a:lnSpc>
                <a:spcPts val="4079"/>
              </a:lnSpc>
              <a:spcBef>
                <a:spcPct val="0"/>
              </a:spcBef>
            </a:pPr>
            <a:r>
              <a:rPr lang="en-US" b="true" sz="3399">
                <a:solidFill>
                  <a:srgbClr val="000000"/>
                </a:solidFill>
                <a:latin typeface="Cambria Bold"/>
                <a:ea typeface="Cambria Bold"/>
                <a:cs typeface="Cambria Bold"/>
                <a:sym typeface="Cambria Bold"/>
              </a:rPr>
              <a:t>Student Name</a:t>
            </a:r>
          </a:p>
        </p:txBody>
      </p:sp>
      <p:sp>
        <p:nvSpPr>
          <p:cNvPr name="TextBox 14" id="14"/>
          <p:cNvSpPr txBox="true"/>
          <p:nvPr/>
        </p:nvSpPr>
        <p:spPr>
          <a:xfrm rot="0">
            <a:off x="1277127" y="4710052"/>
            <a:ext cx="2104727" cy="371475"/>
          </a:xfrm>
          <a:prstGeom prst="rect">
            <a:avLst/>
          </a:prstGeom>
        </p:spPr>
        <p:txBody>
          <a:bodyPr anchor="t" rtlCol="false" tIns="0" lIns="0" bIns="0" rIns="0">
            <a:spAutoFit/>
          </a:bodyPr>
          <a:lstStyle/>
          <a:p>
            <a:pPr algn="ctr">
              <a:lnSpc>
                <a:spcPts val="2879"/>
              </a:lnSpc>
              <a:spcBef>
                <a:spcPct val="0"/>
              </a:spcBef>
            </a:pPr>
            <a:r>
              <a:rPr lang="en-US" b="true" sz="2400">
                <a:solidFill>
                  <a:srgbClr val="000000"/>
                </a:solidFill>
                <a:latin typeface="Cambria Bold"/>
                <a:ea typeface="Cambria Bold"/>
                <a:cs typeface="Cambria Bold"/>
                <a:sym typeface="Cambria Bold"/>
              </a:rPr>
              <a:t>20211CAI0150</a:t>
            </a:r>
          </a:p>
        </p:txBody>
      </p:sp>
      <p:sp>
        <p:nvSpPr>
          <p:cNvPr name="TextBox 15" id="15"/>
          <p:cNvSpPr txBox="true"/>
          <p:nvPr/>
        </p:nvSpPr>
        <p:spPr>
          <a:xfrm rot="0">
            <a:off x="1277127" y="5453063"/>
            <a:ext cx="2104727" cy="733425"/>
          </a:xfrm>
          <a:prstGeom prst="rect">
            <a:avLst/>
          </a:prstGeom>
        </p:spPr>
        <p:txBody>
          <a:bodyPr anchor="t" rtlCol="false" tIns="0" lIns="0" bIns="0" rIns="0">
            <a:spAutoFit/>
          </a:bodyPr>
          <a:lstStyle/>
          <a:p>
            <a:pPr algn="ctr">
              <a:lnSpc>
                <a:spcPts val="2879"/>
              </a:lnSpc>
              <a:spcBef>
                <a:spcPct val="0"/>
              </a:spcBef>
            </a:pPr>
            <a:r>
              <a:rPr lang="en-US" b="true" sz="2400">
                <a:solidFill>
                  <a:srgbClr val="000000"/>
                </a:solidFill>
                <a:latin typeface="Cambria Bold"/>
                <a:ea typeface="Cambria Bold"/>
                <a:cs typeface="Cambria Bold"/>
                <a:sym typeface="Cambria Bold"/>
              </a:rPr>
              <a:t>20211CAI0182</a:t>
            </a:r>
          </a:p>
          <a:p>
            <a:pPr algn="ctr">
              <a:lnSpc>
                <a:spcPts val="2879"/>
              </a:lnSpc>
              <a:spcBef>
                <a:spcPct val="0"/>
              </a:spcBef>
            </a:pPr>
          </a:p>
        </p:txBody>
      </p:sp>
      <p:sp>
        <p:nvSpPr>
          <p:cNvPr name="TextBox 16" id="16"/>
          <p:cNvSpPr txBox="true"/>
          <p:nvPr/>
        </p:nvSpPr>
        <p:spPr>
          <a:xfrm rot="0">
            <a:off x="4977848" y="5453063"/>
            <a:ext cx="1777752" cy="371475"/>
          </a:xfrm>
          <a:prstGeom prst="rect">
            <a:avLst/>
          </a:prstGeom>
        </p:spPr>
        <p:txBody>
          <a:bodyPr anchor="t" rtlCol="false" tIns="0" lIns="0" bIns="0" rIns="0">
            <a:spAutoFit/>
          </a:bodyPr>
          <a:lstStyle/>
          <a:p>
            <a:pPr algn="ctr">
              <a:lnSpc>
                <a:spcPts val="2879"/>
              </a:lnSpc>
              <a:spcBef>
                <a:spcPct val="0"/>
              </a:spcBef>
            </a:pPr>
            <a:r>
              <a:rPr lang="en-US" b="true" sz="2400">
                <a:solidFill>
                  <a:srgbClr val="000000"/>
                </a:solidFill>
                <a:latin typeface="Cambria Bold"/>
                <a:ea typeface="Cambria Bold"/>
                <a:cs typeface="Cambria Bold"/>
                <a:sym typeface="Cambria Bold"/>
              </a:rPr>
              <a:t>SYED AZEEM</a:t>
            </a:r>
          </a:p>
        </p:txBody>
      </p:sp>
      <p:sp>
        <p:nvSpPr>
          <p:cNvPr name="TextBox 17" id="17"/>
          <p:cNvSpPr txBox="true"/>
          <p:nvPr/>
        </p:nvSpPr>
        <p:spPr>
          <a:xfrm rot="0">
            <a:off x="3428100" y="4710052"/>
            <a:ext cx="4877246" cy="371475"/>
          </a:xfrm>
          <a:prstGeom prst="rect">
            <a:avLst/>
          </a:prstGeom>
        </p:spPr>
        <p:txBody>
          <a:bodyPr anchor="t" rtlCol="false" tIns="0" lIns="0" bIns="0" rIns="0">
            <a:spAutoFit/>
          </a:bodyPr>
          <a:lstStyle/>
          <a:p>
            <a:pPr algn="ctr">
              <a:lnSpc>
                <a:spcPts val="2879"/>
              </a:lnSpc>
              <a:spcBef>
                <a:spcPct val="0"/>
              </a:spcBef>
            </a:pPr>
            <a:r>
              <a:rPr lang="en-US" b="true" sz="2400">
                <a:solidFill>
                  <a:srgbClr val="000000"/>
                </a:solidFill>
                <a:latin typeface="Cambria Bold"/>
                <a:ea typeface="Cambria Bold"/>
                <a:cs typeface="Cambria Bold"/>
                <a:sym typeface="Cambria Bold"/>
              </a:rPr>
              <a:t>ROHIT S</a:t>
            </a:r>
          </a:p>
        </p:txBody>
      </p:sp>
      <p:sp>
        <p:nvSpPr>
          <p:cNvPr name="TextBox 18" id="18"/>
          <p:cNvSpPr txBox="true"/>
          <p:nvPr/>
        </p:nvSpPr>
        <p:spPr>
          <a:xfrm rot="0">
            <a:off x="10641051" y="2865605"/>
            <a:ext cx="5964822" cy="428625"/>
          </a:xfrm>
          <a:prstGeom prst="rect">
            <a:avLst/>
          </a:prstGeom>
        </p:spPr>
        <p:txBody>
          <a:bodyPr anchor="t" rtlCol="false" tIns="0" lIns="0" bIns="0" rIns="0">
            <a:spAutoFit/>
          </a:bodyPr>
          <a:lstStyle/>
          <a:p>
            <a:pPr algn="ctr">
              <a:lnSpc>
                <a:spcPts val="3240"/>
              </a:lnSpc>
              <a:spcBef>
                <a:spcPct val="0"/>
              </a:spcBef>
            </a:pPr>
            <a:r>
              <a:rPr lang="en-US" b="true" sz="2700">
                <a:solidFill>
                  <a:srgbClr val="000000"/>
                </a:solidFill>
                <a:latin typeface="Cambria Bold"/>
                <a:ea typeface="Cambria Bold"/>
                <a:cs typeface="Cambria Bold"/>
                <a:sym typeface="Cambria Bold"/>
              </a:rPr>
              <a:t>Pr</a:t>
            </a:r>
            <a:r>
              <a:rPr lang="en-US" b="true" sz="2700">
                <a:solidFill>
                  <a:srgbClr val="000000"/>
                </a:solidFill>
                <a:latin typeface="Cambria Bold"/>
                <a:ea typeface="Cambria Bold"/>
                <a:cs typeface="Cambria Bold"/>
                <a:sym typeface="Cambria Bold"/>
              </a:rPr>
              <a:t>oblem Statement Number: </a:t>
            </a:r>
            <a:r>
              <a:rPr lang="en-US" b="true" sz="2700">
                <a:solidFill>
                  <a:srgbClr val="FF0000"/>
                </a:solidFill>
                <a:latin typeface="Cambria Bold"/>
                <a:ea typeface="Cambria Bold"/>
                <a:cs typeface="Cambria Bold"/>
                <a:sym typeface="Cambria Bold"/>
              </a:rPr>
              <a:t>PSCS_16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18318">
            <a:off x="1176223" y="1352550"/>
            <a:ext cx="16087953" cy="0"/>
          </a:xfrm>
          <a:prstGeom prst="line">
            <a:avLst/>
          </a:prstGeom>
          <a:ln cap="rnd" w="47625">
            <a:solidFill>
              <a:srgbClr val="000000"/>
            </a:solidFill>
            <a:prstDash val="solid"/>
            <a:headEnd type="none" len="sm" w="sm"/>
            <a:tailEnd type="none" len="sm" w="sm"/>
          </a:ln>
        </p:spPr>
      </p:sp>
      <p:grpSp>
        <p:nvGrpSpPr>
          <p:cNvPr name="Group 3" id="3"/>
          <p:cNvGrpSpPr>
            <a:grpSpLocks noChangeAspect="true"/>
          </p:cNvGrpSpPr>
          <p:nvPr/>
        </p:nvGrpSpPr>
        <p:grpSpPr>
          <a:xfrm rot="0">
            <a:off x="0" y="8987049"/>
            <a:ext cx="18288002" cy="1299949"/>
            <a:chOff x="0" y="0"/>
            <a:chExt cx="24384002" cy="1733266"/>
          </a:xfrm>
        </p:grpSpPr>
        <p:sp>
          <p:nvSpPr>
            <p:cNvPr name="Freeform 4" id="4"/>
            <p:cNvSpPr/>
            <p:nvPr/>
          </p:nvSpPr>
          <p:spPr>
            <a:xfrm flipH="false" flipV="false" rot="0">
              <a:off x="0" y="0"/>
              <a:ext cx="24384000" cy="1733296"/>
            </a:xfrm>
            <a:custGeom>
              <a:avLst/>
              <a:gdLst/>
              <a:ahLst/>
              <a:cxnLst/>
              <a:rect r="r" b="b" t="t" l="l"/>
              <a:pathLst>
                <a:path h="1733296" w="24384000">
                  <a:moveTo>
                    <a:pt x="0" y="0"/>
                  </a:moveTo>
                  <a:lnTo>
                    <a:pt x="24384000" y="0"/>
                  </a:lnTo>
                  <a:lnTo>
                    <a:pt x="24384000" y="1733296"/>
                  </a:lnTo>
                  <a:lnTo>
                    <a:pt x="0" y="1733296"/>
                  </a:lnTo>
                  <a:lnTo>
                    <a:pt x="0" y="0"/>
                  </a:lnTo>
                  <a:close/>
                </a:path>
              </a:pathLst>
            </a:custGeom>
            <a:blipFill>
              <a:blip r:embed="rId3"/>
              <a:stretch>
                <a:fillRect l="0" t="0" r="0" b="-171062"/>
              </a:stretch>
            </a:blipFill>
          </p:spPr>
        </p:sp>
      </p:grpSp>
      <p:grpSp>
        <p:nvGrpSpPr>
          <p:cNvPr name="Group 5" id="5"/>
          <p:cNvGrpSpPr/>
          <p:nvPr/>
        </p:nvGrpSpPr>
        <p:grpSpPr>
          <a:xfrm rot="0">
            <a:off x="1143000" y="-620581"/>
            <a:ext cx="16002000" cy="3081449"/>
            <a:chOff x="0" y="0"/>
            <a:chExt cx="21336000" cy="4108599"/>
          </a:xfrm>
        </p:grpSpPr>
        <p:sp>
          <p:nvSpPr>
            <p:cNvPr name="Freeform 6" id="6"/>
            <p:cNvSpPr/>
            <p:nvPr/>
          </p:nvSpPr>
          <p:spPr>
            <a:xfrm flipH="false" flipV="false" rot="0">
              <a:off x="0" y="0"/>
              <a:ext cx="21336000" cy="4108599"/>
            </a:xfrm>
            <a:custGeom>
              <a:avLst/>
              <a:gdLst/>
              <a:ahLst/>
              <a:cxnLst/>
              <a:rect r="r" b="b" t="t" l="l"/>
              <a:pathLst>
                <a:path h="4108599" w="21336000">
                  <a:moveTo>
                    <a:pt x="0" y="0"/>
                  </a:moveTo>
                  <a:lnTo>
                    <a:pt x="21336000" y="0"/>
                  </a:lnTo>
                  <a:lnTo>
                    <a:pt x="21336000" y="4108599"/>
                  </a:lnTo>
                  <a:lnTo>
                    <a:pt x="0" y="4108599"/>
                  </a:lnTo>
                  <a:close/>
                </a:path>
              </a:pathLst>
            </a:custGeom>
            <a:solidFill>
              <a:srgbClr val="000000">
                <a:alpha val="0"/>
              </a:srgbClr>
            </a:solidFill>
          </p:spPr>
        </p:sp>
        <p:sp>
          <p:nvSpPr>
            <p:cNvPr name="TextBox 7" id="7"/>
            <p:cNvSpPr txBox="true"/>
            <p:nvPr/>
          </p:nvSpPr>
          <p:spPr>
            <a:xfrm>
              <a:off x="0" y="-9525"/>
              <a:ext cx="21336000" cy="4118124"/>
            </a:xfrm>
            <a:prstGeom prst="rect">
              <a:avLst/>
            </a:prstGeom>
          </p:spPr>
          <p:txBody>
            <a:bodyPr anchor="ctr" rtlCol="false" tIns="0" lIns="0" bIns="0" rIns="0"/>
            <a:lstStyle/>
            <a:p>
              <a:pPr algn="l">
                <a:lnSpc>
                  <a:spcPts val="5040"/>
                </a:lnSpc>
              </a:pPr>
              <a:r>
                <a:rPr lang="en-US" b="true" sz="4200">
                  <a:solidFill>
                    <a:srgbClr val="17365D"/>
                  </a:solidFill>
                  <a:latin typeface="Cambria Bold"/>
                  <a:ea typeface="Cambria Bold"/>
                  <a:cs typeface="Cambria Bold"/>
                  <a:sym typeface="Cambria Bold"/>
                </a:rPr>
                <a:t>Problem Statement</a:t>
              </a:r>
            </a:p>
          </p:txBody>
        </p:sp>
      </p:grpSp>
      <p:sp>
        <p:nvSpPr>
          <p:cNvPr name="TextBox 8" id="8"/>
          <p:cNvSpPr txBox="true"/>
          <p:nvPr/>
        </p:nvSpPr>
        <p:spPr>
          <a:xfrm rot="0">
            <a:off x="1028700" y="1872187"/>
            <a:ext cx="14037139" cy="5775658"/>
          </a:xfrm>
          <a:prstGeom prst="rect">
            <a:avLst/>
          </a:prstGeom>
        </p:spPr>
        <p:txBody>
          <a:bodyPr anchor="t" rtlCol="false" tIns="0" lIns="0" bIns="0" rIns="0">
            <a:spAutoFit/>
          </a:bodyPr>
          <a:lstStyle/>
          <a:p>
            <a:pPr algn="l" marL="755561" indent="-377780" lvl="1">
              <a:lnSpc>
                <a:spcPts val="4199"/>
              </a:lnSpc>
              <a:buFont typeface="Arial"/>
              <a:buChar char="•"/>
            </a:pPr>
            <a:r>
              <a:rPr lang="en-US" sz="3499">
                <a:solidFill>
                  <a:srgbClr val="000000"/>
                </a:solidFill>
                <a:latin typeface="Cambria"/>
                <a:ea typeface="Cambria"/>
                <a:cs typeface="Cambria"/>
                <a:sym typeface="Cambria"/>
              </a:rPr>
              <a:t>While the PGRKAM portal successfully connects a vast network of job seekers and recruiters, it currently operates without integrated analytics or a personalized recommendation system. This gap makes it difficult to track user behavior or understand engagement patterns, resulting in generic job matches and leaving administrators without crucial data-driven insights. As a result, the platform is limited in its ability to offer a seamless user experience, improve employment rates, or provide policymakers with the data needed for strategic workforce planning.</a:t>
            </a:r>
          </a:p>
          <a:p>
            <a:pPr algn="l" marL="755561" indent="-377780" lvl="1">
              <a:lnSpc>
                <a:spcPts val="4199"/>
              </a:lnSpc>
              <a:buFont typeface="Arial"/>
              <a:buChar char="•"/>
            </a:pPr>
            <a:r>
              <a:rPr lang="en-US" b="true" sz="3499">
                <a:solidFill>
                  <a:srgbClr val="000000"/>
                </a:solidFill>
                <a:latin typeface="Cambria Bold"/>
                <a:ea typeface="Cambria Bold"/>
                <a:cs typeface="Cambria Bold"/>
                <a:sym typeface="Cambria Bold"/>
              </a:rPr>
              <a:t>Goal</a:t>
            </a:r>
            <a:r>
              <a:rPr lang="en-US" sz="3499">
                <a:solidFill>
                  <a:srgbClr val="000000"/>
                </a:solidFill>
                <a:latin typeface="Cambria"/>
                <a:ea typeface="Cambria"/>
                <a:cs typeface="Cambria"/>
                <a:sym typeface="Cambria"/>
              </a:rPr>
              <a:t>—to build an integrated platform offering analytics and a job recommender system.</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18318">
            <a:off x="1176223" y="1352550"/>
            <a:ext cx="16087953" cy="0"/>
          </a:xfrm>
          <a:prstGeom prst="line">
            <a:avLst/>
          </a:prstGeom>
          <a:ln cap="rnd" w="47625">
            <a:solidFill>
              <a:srgbClr val="000000"/>
            </a:solidFill>
            <a:prstDash val="solid"/>
            <a:headEnd type="none" len="sm" w="sm"/>
            <a:tailEnd type="none" len="sm" w="sm"/>
          </a:ln>
        </p:spPr>
      </p:sp>
      <p:grpSp>
        <p:nvGrpSpPr>
          <p:cNvPr name="Group 3" id="3"/>
          <p:cNvGrpSpPr>
            <a:grpSpLocks noChangeAspect="true"/>
          </p:cNvGrpSpPr>
          <p:nvPr/>
        </p:nvGrpSpPr>
        <p:grpSpPr>
          <a:xfrm rot="0">
            <a:off x="0" y="8987049"/>
            <a:ext cx="18288002" cy="1299949"/>
            <a:chOff x="0" y="0"/>
            <a:chExt cx="24384002" cy="1733266"/>
          </a:xfrm>
        </p:grpSpPr>
        <p:sp>
          <p:nvSpPr>
            <p:cNvPr name="Freeform 4" id="4"/>
            <p:cNvSpPr/>
            <p:nvPr/>
          </p:nvSpPr>
          <p:spPr>
            <a:xfrm flipH="false" flipV="false" rot="0">
              <a:off x="0" y="0"/>
              <a:ext cx="24384000" cy="1733296"/>
            </a:xfrm>
            <a:custGeom>
              <a:avLst/>
              <a:gdLst/>
              <a:ahLst/>
              <a:cxnLst/>
              <a:rect r="r" b="b" t="t" l="l"/>
              <a:pathLst>
                <a:path h="1733296" w="24384000">
                  <a:moveTo>
                    <a:pt x="0" y="0"/>
                  </a:moveTo>
                  <a:lnTo>
                    <a:pt x="24384000" y="0"/>
                  </a:lnTo>
                  <a:lnTo>
                    <a:pt x="24384000" y="1733296"/>
                  </a:lnTo>
                  <a:lnTo>
                    <a:pt x="0" y="1733296"/>
                  </a:lnTo>
                  <a:lnTo>
                    <a:pt x="0" y="0"/>
                  </a:lnTo>
                  <a:close/>
                </a:path>
              </a:pathLst>
            </a:custGeom>
            <a:blipFill>
              <a:blip r:embed="rId3"/>
              <a:stretch>
                <a:fillRect l="0" t="0" r="0" b="-171062"/>
              </a:stretch>
            </a:blipFill>
          </p:spPr>
        </p:sp>
      </p:grpSp>
      <p:grpSp>
        <p:nvGrpSpPr>
          <p:cNvPr name="Group 5" id="5"/>
          <p:cNvGrpSpPr/>
          <p:nvPr/>
        </p:nvGrpSpPr>
        <p:grpSpPr>
          <a:xfrm rot="0">
            <a:off x="1143000" y="-620581"/>
            <a:ext cx="16002000" cy="3081449"/>
            <a:chOff x="0" y="0"/>
            <a:chExt cx="21336000" cy="4108599"/>
          </a:xfrm>
        </p:grpSpPr>
        <p:sp>
          <p:nvSpPr>
            <p:cNvPr name="Freeform 6" id="6"/>
            <p:cNvSpPr/>
            <p:nvPr/>
          </p:nvSpPr>
          <p:spPr>
            <a:xfrm flipH="false" flipV="false" rot="0">
              <a:off x="0" y="0"/>
              <a:ext cx="21336000" cy="4108599"/>
            </a:xfrm>
            <a:custGeom>
              <a:avLst/>
              <a:gdLst/>
              <a:ahLst/>
              <a:cxnLst/>
              <a:rect r="r" b="b" t="t" l="l"/>
              <a:pathLst>
                <a:path h="4108599" w="21336000">
                  <a:moveTo>
                    <a:pt x="0" y="0"/>
                  </a:moveTo>
                  <a:lnTo>
                    <a:pt x="21336000" y="0"/>
                  </a:lnTo>
                  <a:lnTo>
                    <a:pt x="21336000" y="4108599"/>
                  </a:lnTo>
                  <a:lnTo>
                    <a:pt x="0" y="4108599"/>
                  </a:lnTo>
                  <a:close/>
                </a:path>
              </a:pathLst>
            </a:custGeom>
            <a:solidFill>
              <a:srgbClr val="000000">
                <a:alpha val="0"/>
              </a:srgbClr>
            </a:solidFill>
          </p:spPr>
        </p:sp>
        <p:sp>
          <p:nvSpPr>
            <p:cNvPr name="TextBox 7" id="7"/>
            <p:cNvSpPr txBox="true"/>
            <p:nvPr/>
          </p:nvSpPr>
          <p:spPr>
            <a:xfrm>
              <a:off x="0" y="-9525"/>
              <a:ext cx="21336000" cy="4118124"/>
            </a:xfrm>
            <a:prstGeom prst="rect">
              <a:avLst/>
            </a:prstGeom>
          </p:spPr>
          <p:txBody>
            <a:bodyPr anchor="ctr" rtlCol="false" tIns="0" lIns="0" bIns="0" rIns="0"/>
            <a:lstStyle/>
            <a:p>
              <a:pPr algn="l">
                <a:lnSpc>
                  <a:spcPts val="5040"/>
                </a:lnSpc>
              </a:pPr>
              <a:r>
                <a:rPr lang="en-US" b="true" sz="4200">
                  <a:solidFill>
                    <a:srgbClr val="17365D"/>
                  </a:solidFill>
                  <a:latin typeface="Cambria Bold"/>
                  <a:ea typeface="Cambria Bold"/>
                  <a:cs typeface="Cambria Bold"/>
                  <a:sym typeface="Cambria Bold"/>
                </a:rPr>
                <a:t>Objectives</a:t>
              </a:r>
            </a:p>
          </p:txBody>
        </p:sp>
      </p:grpSp>
      <p:sp>
        <p:nvSpPr>
          <p:cNvPr name="Freeform 8" id="8"/>
          <p:cNvSpPr/>
          <p:nvPr/>
        </p:nvSpPr>
        <p:spPr>
          <a:xfrm flipH="false" flipV="false" rot="0">
            <a:off x="11155681" y="3900255"/>
            <a:ext cx="6108382" cy="5736769"/>
          </a:xfrm>
          <a:custGeom>
            <a:avLst/>
            <a:gdLst/>
            <a:ahLst/>
            <a:cxnLst/>
            <a:rect r="r" b="b" t="t" l="l"/>
            <a:pathLst>
              <a:path h="5736769" w="6108382">
                <a:moveTo>
                  <a:pt x="0" y="0"/>
                </a:moveTo>
                <a:lnTo>
                  <a:pt x="6108381" y="0"/>
                </a:lnTo>
                <a:lnTo>
                  <a:pt x="6108381" y="5736769"/>
                </a:lnTo>
                <a:lnTo>
                  <a:pt x="0" y="5736769"/>
                </a:lnTo>
                <a:lnTo>
                  <a:pt x="0" y="0"/>
                </a:lnTo>
                <a:close/>
              </a:path>
            </a:pathLst>
          </a:custGeom>
          <a:blipFill>
            <a:blip r:embed="rId4"/>
            <a:stretch>
              <a:fillRect l="0" t="0" r="0" b="0"/>
            </a:stretch>
          </a:blipFill>
        </p:spPr>
      </p:sp>
      <p:sp>
        <p:nvSpPr>
          <p:cNvPr name="Freeform 9" id="9"/>
          <p:cNvSpPr/>
          <p:nvPr/>
        </p:nvSpPr>
        <p:spPr>
          <a:xfrm flipH="false" flipV="false" rot="0">
            <a:off x="4556687" y="3893326"/>
            <a:ext cx="6078843" cy="5743698"/>
          </a:xfrm>
          <a:custGeom>
            <a:avLst/>
            <a:gdLst/>
            <a:ahLst/>
            <a:cxnLst/>
            <a:rect r="r" b="b" t="t" l="l"/>
            <a:pathLst>
              <a:path h="5743698" w="6078843">
                <a:moveTo>
                  <a:pt x="0" y="0"/>
                </a:moveTo>
                <a:lnTo>
                  <a:pt x="6078843" y="0"/>
                </a:lnTo>
                <a:lnTo>
                  <a:pt x="6078843" y="5743698"/>
                </a:lnTo>
                <a:lnTo>
                  <a:pt x="0" y="5743698"/>
                </a:lnTo>
                <a:lnTo>
                  <a:pt x="0" y="0"/>
                </a:lnTo>
                <a:close/>
              </a:path>
            </a:pathLst>
          </a:custGeom>
          <a:blipFill>
            <a:blip r:embed="rId5"/>
            <a:stretch>
              <a:fillRect l="0" t="0" r="0" b="0"/>
            </a:stretch>
          </a:blipFill>
        </p:spPr>
      </p:sp>
      <p:sp>
        <p:nvSpPr>
          <p:cNvPr name="TextBox 10" id="10"/>
          <p:cNvSpPr txBox="true"/>
          <p:nvPr/>
        </p:nvSpPr>
        <p:spPr>
          <a:xfrm rot="0">
            <a:off x="1028700" y="1720650"/>
            <a:ext cx="16914865" cy="2457450"/>
          </a:xfrm>
          <a:prstGeom prst="rect">
            <a:avLst/>
          </a:prstGeom>
        </p:spPr>
        <p:txBody>
          <a:bodyPr anchor="t" rtlCol="false" tIns="0" lIns="0" bIns="0" rIns="0">
            <a:spAutoFit/>
          </a:bodyPr>
          <a:lstStyle/>
          <a:p>
            <a:pPr algn="l">
              <a:lnSpc>
                <a:spcPts val="3295"/>
              </a:lnSpc>
              <a:spcBef>
                <a:spcPct val="0"/>
              </a:spcBef>
            </a:pPr>
            <a:r>
              <a:rPr lang="en-US" sz="2746">
                <a:solidFill>
                  <a:srgbClr val="000000"/>
                </a:solidFill>
                <a:latin typeface="Cambria"/>
                <a:ea typeface="Cambria"/>
                <a:cs typeface="Cambria"/>
                <a:sym typeface="Cambria"/>
              </a:rPr>
              <a:t>• R</a:t>
            </a:r>
            <a:r>
              <a:rPr lang="en-US" sz="2746">
                <a:solidFill>
                  <a:srgbClr val="000000"/>
                </a:solidFill>
                <a:latin typeface="Cambria"/>
                <a:ea typeface="Cambria"/>
                <a:cs typeface="Cambria"/>
                <a:sym typeface="Cambria"/>
              </a:rPr>
              <a:t>eal-time analytics </a:t>
            </a:r>
          </a:p>
          <a:p>
            <a:pPr algn="l">
              <a:lnSpc>
                <a:spcPts val="3295"/>
              </a:lnSpc>
              <a:spcBef>
                <a:spcPct val="0"/>
              </a:spcBef>
            </a:pPr>
            <a:r>
              <a:rPr lang="en-US" sz="2746">
                <a:solidFill>
                  <a:srgbClr val="000000"/>
                </a:solidFill>
                <a:latin typeface="Cambria"/>
                <a:ea typeface="Cambria"/>
                <a:cs typeface="Cambria"/>
                <a:sym typeface="Cambria"/>
              </a:rPr>
              <a:t>• AI-based job recommendations </a:t>
            </a:r>
          </a:p>
          <a:p>
            <a:pPr algn="l">
              <a:lnSpc>
                <a:spcPts val="3295"/>
              </a:lnSpc>
              <a:spcBef>
                <a:spcPct val="0"/>
              </a:spcBef>
            </a:pPr>
            <a:r>
              <a:rPr lang="en-US" sz="2746">
                <a:solidFill>
                  <a:srgbClr val="000000"/>
                </a:solidFill>
                <a:latin typeface="Cambria"/>
                <a:ea typeface="Cambria"/>
                <a:cs typeface="Cambria"/>
                <a:sym typeface="Cambria"/>
              </a:rPr>
              <a:t>• Explainable matched skills </a:t>
            </a:r>
          </a:p>
          <a:p>
            <a:pPr algn="l">
              <a:lnSpc>
                <a:spcPts val="3295"/>
              </a:lnSpc>
            </a:pPr>
            <a:r>
              <a:rPr lang="en-US" sz="2746">
                <a:solidFill>
                  <a:srgbClr val="000000"/>
                </a:solidFill>
                <a:latin typeface="Cambria"/>
                <a:ea typeface="Cambria"/>
                <a:cs typeface="Cambria"/>
                <a:sym typeface="Cambria"/>
              </a:rPr>
              <a:t>Streamlit dashboard </a:t>
            </a:r>
          </a:p>
          <a:p>
            <a:pPr algn="l">
              <a:lnSpc>
                <a:spcPts val="3295"/>
              </a:lnSpc>
            </a:pPr>
            <a:r>
              <a:rPr lang="en-US" sz="2746">
                <a:solidFill>
                  <a:srgbClr val="000000"/>
                </a:solidFill>
                <a:latin typeface="Cambria"/>
                <a:ea typeface="Cambria"/>
                <a:cs typeface="Cambria"/>
                <a:sym typeface="Cambria"/>
              </a:rPr>
              <a:t>• Synthetic dataset generation </a:t>
            </a:r>
          </a:p>
          <a:p>
            <a:pPr algn="l">
              <a:lnSpc>
                <a:spcPts val="3295"/>
              </a:lnSpc>
            </a:pPr>
          </a:p>
        </p:txBody>
      </p:sp>
      <p:sp>
        <p:nvSpPr>
          <p:cNvPr name="TextBox 11" id="11"/>
          <p:cNvSpPr txBox="true"/>
          <p:nvPr/>
        </p:nvSpPr>
        <p:spPr>
          <a:xfrm rot="0">
            <a:off x="6342008" y="9473779"/>
            <a:ext cx="2508200" cy="314325"/>
          </a:xfrm>
          <a:prstGeom prst="rect">
            <a:avLst/>
          </a:prstGeom>
        </p:spPr>
        <p:txBody>
          <a:bodyPr anchor="t" rtlCol="false" tIns="0" lIns="0" bIns="0" rIns="0">
            <a:spAutoFit/>
          </a:bodyPr>
          <a:lstStyle/>
          <a:p>
            <a:pPr algn="ctr">
              <a:lnSpc>
                <a:spcPts val="2400"/>
              </a:lnSpc>
              <a:spcBef>
                <a:spcPct val="0"/>
              </a:spcBef>
            </a:pPr>
            <a:r>
              <a:rPr lang="en-US" sz="2000">
                <a:solidFill>
                  <a:srgbClr val="000000"/>
                </a:solidFill>
                <a:latin typeface="Cambria"/>
                <a:ea typeface="Cambria"/>
                <a:cs typeface="Cambria"/>
                <a:sym typeface="Cambria"/>
              </a:rPr>
              <a:t>Job Appplication status</a:t>
            </a:r>
          </a:p>
        </p:txBody>
      </p:sp>
      <p:sp>
        <p:nvSpPr>
          <p:cNvPr name="TextBox 12" id="12"/>
          <p:cNvSpPr txBox="true"/>
          <p:nvPr/>
        </p:nvSpPr>
        <p:spPr>
          <a:xfrm rot="0">
            <a:off x="13053929" y="9507375"/>
            <a:ext cx="2837259" cy="314325"/>
          </a:xfrm>
          <a:prstGeom prst="rect">
            <a:avLst/>
          </a:prstGeom>
        </p:spPr>
        <p:txBody>
          <a:bodyPr anchor="t" rtlCol="false" tIns="0" lIns="0" bIns="0" rIns="0">
            <a:spAutoFit/>
          </a:bodyPr>
          <a:lstStyle/>
          <a:p>
            <a:pPr algn="ctr">
              <a:lnSpc>
                <a:spcPts val="2400"/>
              </a:lnSpc>
              <a:spcBef>
                <a:spcPct val="0"/>
              </a:spcBef>
            </a:pPr>
            <a:r>
              <a:rPr lang="en-US" sz="2000">
                <a:solidFill>
                  <a:srgbClr val="000000"/>
                </a:solidFill>
                <a:latin typeface="Cambria"/>
                <a:ea typeface="Cambria"/>
                <a:cs typeface="Cambria"/>
                <a:sym typeface="Cambria"/>
              </a:rPr>
              <a:t>Use</a:t>
            </a:r>
            <a:r>
              <a:rPr lang="en-US" sz="2000">
                <a:solidFill>
                  <a:srgbClr val="000000"/>
                </a:solidFill>
                <a:latin typeface="Cambria"/>
                <a:ea typeface="Cambria"/>
                <a:cs typeface="Cambria"/>
                <a:sym typeface="Cambria"/>
              </a:rPr>
              <a:t>r Acquisition Channels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18318">
            <a:off x="1176223" y="1352550"/>
            <a:ext cx="16087953" cy="0"/>
          </a:xfrm>
          <a:prstGeom prst="line">
            <a:avLst/>
          </a:prstGeom>
          <a:ln cap="rnd" w="47625">
            <a:solidFill>
              <a:srgbClr val="000000"/>
            </a:solidFill>
            <a:prstDash val="solid"/>
            <a:headEnd type="none" len="sm" w="sm"/>
            <a:tailEnd type="none" len="sm" w="sm"/>
          </a:ln>
        </p:spPr>
      </p:sp>
      <p:grpSp>
        <p:nvGrpSpPr>
          <p:cNvPr name="Group 3" id="3"/>
          <p:cNvGrpSpPr>
            <a:grpSpLocks noChangeAspect="true"/>
          </p:cNvGrpSpPr>
          <p:nvPr/>
        </p:nvGrpSpPr>
        <p:grpSpPr>
          <a:xfrm rot="0">
            <a:off x="0" y="8987049"/>
            <a:ext cx="18288002" cy="1299949"/>
            <a:chOff x="0" y="0"/>
            <a:chExt cx="24384002" cy="1733266"/>
          </a:xfrm>
        </p:grpSpPr>
        <p:sp>
          <p:nvSpPr>
            <p:cNvPr name="Freeform 4" id="4"/>
            <p:cNvSpPr/>
            <p:nvPr/>
          </p:nvSpPr>
          <p:spPr>
            <a:xfrm flipH="false" flipV="false" rot="0">
              <a:off x="0" y="0"/>
              <a:ext cx="24384000" cy="1733296"/>
            </a:xfrm>
            <a:custGeom>
              <a:avLst/>
              <a:gdLst/>
              <a:ahLst/>
              <a:cxnLst/>
              <a:rect r="r" b="b" t="t" l="l"/>
              <a:pathLst>
                <a:path h="1733296" w="24384000">
                  <a:moveTo>
                    <a:pt x="0" y="0"/>
                  </a:moveTo>
                  <a:lnTo>
                    <a:pt x="24384000" y="0"/>
                  </a:lnTo>
                  <a:lnTo>
                    <a:pt x="24384000" y="1733296"/>
                  </a:lnTo>
                  <a:lnTo>
                    <a:pt x="0" y="1733296"/>
                  </a:lnTo>
                  <a:lnTo>
                    <a:pt x="0" y="0"/>
                  </a:lnTo>
                  <a:close/>
                </a:path>
              </a:pathLst>
            </a:custGeom>
            <a:blipFill>
              <a:blip r:embed="rId3"/>
              <a:stretch>
                <a:fillRect l="0" t="0" r="0" b="-171062"/>
              </a:stretch>
            </a:blipFill>
          </p:spPr>
        </p:sp>
      </p:grpSp>
      <p:grpSp>
        <p:nvGrpSpPr>
          <p:cNvPr name="Group 5" id="5"/>
          <p:cNvGrpSpPr/>
          <p:nvPr/>
        </p:nvGrpSpPr>
        <p:grpSpPr>
          <a:xfrm rot="0">
            <a:off x="1143000" y="-620581"/>
            <a:ext cx="16002000" cy="3081449"/>
            <a:chOff x="0" y="0"/>
            <a:chExt cx="21336000" cy="4108599"/>
          </a:xfrm>
        </p:grpSpPr>
        <p:sp>
          <p:nvSpPr>
            <p:cNvPr name="Freeform 6" id="6"/>
            <p:cNvSpPr/>
            <p:nvPr/>
          </p:nvSpPr>
          <p:spPr>
            <a:xfrm flipH="false" flipV="false" rot="0">
              <a:off x="0" y="0"/>
              <a:ext cx="21336000" cy="4108599"/>
            </a:xfrm>
            <a:custGeom>
              <a:avLst/>
              <a:gdLst/>
              <a:ahLst/>
              <a:cxnLst/>
              <a:rect r="r" b="b" t="t" l="l"/>
              <a:pathLst>
                <a:path h="4108599" w="21336000">
                  <a:moveTo>
                    <a:pt x="0" y="0"/>
                  </a:moveTo>
                  <a:lnTo>
                    <a:pt x="21336000" y="0"/>
                  </a:lnTo>
                  <a:lnTo>
                    <a:pt x="21336000" y="4108599"/>
                  </a:lnTo>
                  <a:lnTo>
                    <a:pt x="0" y="4108599"/>
                  </a:lnTo>
                  <a:close/>
                </a:path>
              </a:pathLst>
            </a:custGeom>
            <a:solidFill>
              <a:srgbClr val="000000">
                <a:alpha val="0"/>
              </a:srgbClr>
            </a:solidFill>
          </p:spPr>
        </p:sp>
        <p:sp>
          <p:nvSpPr>
            <p:cNvPr name="TextBox 7" id="7"/>
            <p:cNvSpPr txBox="true"/>
            <p:nvPr/>
          </p:nvSpPr>
          <p:spPr>
            <a:xfrm>
              <a:off x="0" y="-9525"/>
              <a:ext cx="21336000" cy="4118124"/>
            </a:xfrm>
            <a:prstGeom prst="rect">
              <a:avLst/>
            </a:prstGeom>
          </p:spPr>
          <p:txBody>
            <a:bodyPr anchor="ctr" rtlCol="false" tIns="0" lIns="0" bIns="0" rIns="0"/>
            <a:lstStyle/>
            <a:p>
              <a:pPr algn="l">
                <a:lnSpc>
                  <a:spcPts val="5040"/>
                </a:lnSpc>
              </a:pPr>
              <a:r>
                <a:rPr lang="en-US" b="true" sz="4200">
                  <a:solidFill>
                    <a:srgbClr val="17365D"/>
                  </a:solidFill>
                  <a:latin typeface="Cambria Bold"/>
                  <a:ea typeface="Cambria Bold"/>
                  <a:cs typeface="Cambria Bold"/>
                  <a:sym typeface="Cambria Bold"/>
                </a:rPr>
                <a:t>SDG Mapping</a:t>
              </a:r>
            </a:p>
          </p:txBody>
        </p:sp>
      </p:grpSp>
      <p:sp>
        <p:nvSpPr>
          <p:cNvPr name="TextBox 8" id="8"/>
          <p:cNvSpPr txBox="true"/>
          <p:nvPr/>
        </p:nvSpPr>
        <p:spPr>
          <a:xfrm rot="0">
            <a:off x="3464824" y="1720650"/>
            <a:ext cx="9915685" cy="409575"/>
          </a:xfrm>
          <a:prstGeom prst="rect">
            <a:avLst/>
          </a:prstGeom>
        </p:spPr>
        <p:txBody>
          <a:bodyPr anchor="t" rtlCol="false" tIns="0" lIns="0" bIns="0" rIns="0">
            <a:spAutoFit/>
          </a:bodyPr>
          <a:lstStyle/>
          <a:p>
            <a:pPr algn="l">
              <a:lnSpc>
                <a:spcPts val="3295"/>
              </a:lnSpc>
              <a:spcBef>
                <a:spcPct val="0"/>
              </a:spcBef>
            </a:pPr>
          </a:p>
        </p:txBody>
      </p:sp>
      <p:sp>
        <p:nvSpPr>
          <p:cNvPr name="TextBox 9" id="9"/>
          <p:cNvSpPr txBox="true"/>
          <p:nvPr/>
        </p:nvSpPr>
        <p:spPr>
          <a:xfrm rot="0">
            <a:off x="1028700" y="1514475"/>
            <a:ext cx="12867000" cy="7743825"/>
          </a:xfrm>
          <a:prstGeom prst="rect">
            <a:avLst/>
          </a:prstGeom>
        </p:spPr>
        <p:txBody>
          <a:bodyPr anchor="t" rtlCol="false" tIns="0" lIns="0" bIns="0" rIns="0">
            <a:spAutoFit/>
          </a:bodyPr>
          <a:lstStyle/>
          <a:p>
            <a:pPr algn="just">
              <a:lnSpc>
                <a:spcPts val="4415"/>
              </a:lnSpc>
            </a:pPr>
            <a:r>
              <a:rPr lang="en-US" sz="3679">
                <a:solidFill>
                  <a:srgbClr val="000000"/>
                </a:solidFill>
                <a:latin typeface="Cambria"/>
                <a:ea typeface="Cambria"/>
                <a:cs typeface="Cambria"/>
                <a:sym typeface="Cambria"/>
              </a:rPr>
              <a:t>Our project aims to:</a:t>
            </a:r>
          </a:p>
          <a:p>
            <a:pPr algn="just" marL="794339" indent="-397170" lvl="1">
              <a:lnSpc>
                <a:spcPts val="4415"/>
              </a:lnSpc>
              <a:buAutoNum type="arabicPeriod" startAt="1"/>
            </a:pPr>
            <a:r>
              <a:rPr lang="en-US" sz="3679">
                <a:solidFill>
                  <a:srgbClr val="000000"/>
                </a:solidFill>
                <a:latin typeface="Cambria"/>
                <a:ea typeface="Cambria"/>
                <a:cs typeface="Cambria"/>
                <a:sym typeface="Cambria"/>
              </a:rPr>
              <a:t>S</a:t>
            </a:r>
            <a:r>
              <a:rPr lang="en-US" sz="3679">
                <a:solidFill>
                  <a:srgbClr val="000000"/>
                </a:solidFill>
                <a:latin typeface="Cambria"/>
                <a:ea typeface="Cambria"/>
                <a:cs typeface="Cambria"/>
                <a:sym typeface="Cambria"/>
              </a:rPr>
              <a:t>DG 4 – Quality Education</a:t>
            </a:r>
          </a:p>
          <a:p>
            <a:pPr algn="just">
              <a:lnSpc>
                <a:spcPts val="4415"/>
              </a:lnSpc>
            </a:pPr>
            <a:r>
              <a:rPr lang="en-US" sz="3679">
                <a:solidFill>
                  <a:srgbClr val="000000"/>
                </a:solidFill>
                <a:latin typeface="Cambria"/>
                <a:ea typeface="Cambria"/>
                <a:cs typeface="Cambria"/>
                <a:sym typeface="Cambria"/>
              </a:rPr>
              <a:t>                    • Skill-aligned job guidance</a:t>
            </a:r>
          </a:p>
          <a:p>
            <a:pPr algn="just">
              <a:lnSpc>
                <a:spcPts val="4415"/>
              </a:lnSpc>
            </a:pPr>
            <a:r>
              <a:rPr lang="en-US" sz="3679">
                <a:solidFill>
                  <a:srgbClr val="000000"/>
                </a:solidFill>
                <a:latin typeface="Cambria"/>
                <a:ea typeface="Cambria"/>
                <a:cs typeface="Cambria"/>
                <a:sym typeface="Cambria"/>
              </a:rPr>
              <a:t>                    </a:t>
            </a:r>
            <a:r>
              <a:rPr lang="en-US" sz="3679">
                <a:solidFill>
                  <a:srgbClr val="000000"/>
                </a:solidFill>
                <a:latin typeface="Cambria"/>
                <a:ea typeface="Cambria"/>
                <a:cs typeface="Cambria"/>
                <a:sym typeface="Cambria"/>
              </a:rPr>
              <a:t>• Education to job readiness analytics</a:t>
            </a:r>
          </a:p>
          <a:p>
            <a:pPr algn="just">
              <a:lnSpc>
                <a:spcPts val="4415"/>
              </a:lnSpc>
            </a:pPr>
            <a:r>
              <a:rPr lang="en-US" sz="3679">
                <a:solidFill>
                  <a:srgbClr val="000000"/>
                </a:solidFill>
                <a:latin typeface="Cambria"/>
                <a:ea typeface="Cambria"/>
                <a:cs typeface="Cambria"/>
                <a:sym typeface="Cambria"/>
              </a:rPr>
              <a:t>                   </a:t>
            </a:r>
            <a:r>
              <a:rPr lang="en-US" sz="3679">
                <a:solidFill>
                  <a:srgbClr val="000000"/>
                </a:solidFill>
                <a:latin typeface="Cambria"/>
                <a:ea typeface="Cambria"/>
                <a:cs typeface="Cambria"/>
                <a:sym typeface="Cambria"/>
              </a:rPr>
              <a:t> • Improves youth employability</a:t>
            </a:r>
          </a:p>
          <a:p>
            <a:pPr algn="just">
              <a:lnSpc>
                <a:spcPts val="4415"/>
              </a:lnSpc>
            </a:pPr>
            <a:r>
              <a:rPr lang="en-US" sz="3679">
                <a:solidFill>
                  <a:srgbClr val="000000"/>
                </a:solidFill>
                <a:latin typeface="Cambria"/>
                <a:ea typeface="Cambria"/>
                <a:cs typeface="Cambria"/>
                <a:sym typeface="Cambria"/>
              </a:rPr>
              <a:t>    2.SDG 8 – Decent Work &amp; Economic Growth</a:t>
            </a:r>
          </a:p>
          <a:p>
            <a:pPr algn="just">
              <a:lnSpc>
                <a:spcPts val="4415"/>
              </a:lnSpc>
            </a:pPr>
            <a:r>
              <a:rPr lang="en-US" sz="3679">
                <a:solidFill>
                  <a:srgbClr val="000000"/>
                </a:solidFill>
                <a:latin typeface="Cambria"/>
                <a:ea typeface="Cambria"/>
                <a:cs typeface="Cambria"/>
                <a:sym typeface="Cambria"/>
              </a:rPr>
              <a:t>                    •Personalized job recommendations</a:t>
            </a:r>
          </a:p>
          <a:p>
            <a:pPr algn="just">
              <a:lnSpc>
                <a:spcPts val="4415"/>
              </a:lnSpc>
            </a:pPr>
            <a:r>
              <a:rPr lang="en-US" sz="3679">
                <a:solidFill>
                  <a:srgbClr val="000000"/>
                </a:solidFill>
                <a:latin typeface="Cambria"/>
                <a:ea typeface="Cambria"/>
                <a:cs typeface="Cambria"/>
                <a:sym typeface="Cambria"/>
              </a:rPr>
              <a:t>                    •Supports government employment services</a:t>
            </a:r>
          </a:p>
          <a:p>
            <a:pPr algn="just">
              <a:lnSpc>
                <a:spcPts val="4415"/>
              </a:lnSpc>
            </a:pPr>
            <a:r>
              <a:rPr lang="en-US" sz="3679">
                <a:solidFill>
                  <a:srgbClr val="000000"/>
                </a:solidFill>
                <a:latin typeface="Cambria"/>
                <a:ea typeface="Cambria"/>
                <a:cs typeface="Cambria"/>
                <a:sym typeface="Cambria"/>
              </a:rPr>
              <a:t>                   </a:t>
            </a:r>
            <a:r>
              <a:rPr lang="en-US" sz="3679">
                <a:solidFill>
                  <a:srgbClr val="000000"/>
                </a:solidFill>
                <a:latin typeface="Cambria"/>
                <a:ea typeface="Cambria"/>
                <a:cs typeface="Cambria"/>
                <a:sym typeface="Cambria"/>
              </a:rPr>
              <a:t> • Improves labor market participation</a:t>
            </a:r>
          </a:p>
          <a:p>
            <a:pPr algn="just" marL="794339" indent="-397170" lvl="1">
              <a:lnSpc>
                <a:spcPts val="4415"/>
              </a:lnSpc>
              <a:buAutoNum type="arabicPeriod" startAt="1"/>
            </a:pPr>
            <a:r>
              <a:rPr lang="en-US" sz="3679">
                <a:solidFill>
                  <a:srgbClr val="000000"/>
                </a:solidFill>
                <a:latin typeface="Cambria"/>
                <a:ea typeface="Cambria"/>
                <a:cs typeface="Cambria"/>
                <a:sym typeface="Cambria"/>
              </a:rPr>
              <a:t>SDG 10 – Reduced Inequalities</a:t>
            </a:r>
          </a:p>
          <a:p>
            <a:pPr algn="just">
              <a:lnSpc>
                <a:spcPts val="4415"/>
              </a:lnSpc>
            </a:pPr>
            <a:r>
              <a:rPr lang="en-US" sz="3679">
                <a:solidFill>
                  <a:srgbClr val="000000"/>
                </a:solidFill>
                <a:latin typeface="Cambria"/>
                <a:ea typeface="Cambria"/>
                <a:cs typeface="Cambria"/>
                <a:sym typeface="Cambria"/>
              </a:rPr>
              <a:t>                    </a:t>
            </a:r>
            <a:r>
              <a:rPr lang="en-US" sz="3679">
                <a:solidFill>
                  <a:srgbClr val="000000"/>
                </a:solidFill>
                <a:latin typeface="Cambria"/>
                <a:ea typeface="Cambria"/>
                <a:cs typeface="Cambria"/>
                <a:sym typeface="Cambria"/>
              </a:rPr>
              <a:t>• Equal access to job opportunities</a:t>
            </a:r>
          </a:p>
          <a:p>
            <a:pPr algn="just">
              <a:lnSpc>
                <a:spcPts val="4415"/>
              </a:lnSpc>
            </a:pPr>
            <a:r>
              <a:rPr lang="en-US" sz="3679">
                <a:solidFill>
                  <a:srgbClr val="000000"/>
                </a:solidFill>
                <a:latin typeface="Cambria"/>
                <a:ea typeface="Cambria"/>
                <a:cs typeface="Cambria"/>
                <a:sym typeface="Cambria"/>
              </a:rPr>
              <a:t>                   </a:t>
            </a:r>
            <a:r>
              <a:rPr lang="en-US" sz="3679">
                <a:solidFill>
                  <a:srgbClr val="000000"/>
                </a:solidFill>
                <a:latin typeface="Cambria"/>
                <a:ea typeface="Cambria"/>
                <a:cs typeface="Cambria"/>
                <a:sym typeface="Cambria"/>
              </a:rPr>
              <a:t> • Unbiased recommendations</a:t>
            </a:r>
          </a:p>
          <a:p>
            <a:pPr algn="just">
              <a:lnSpc>
                <a:spcPts val="4415"/>
              </a:lnSpc>
            </a:pPr>
            <a:r>
              <a:rPr lang="en-US" sz="3679">
                <a:solidFill>
                  <a:srgbClr val="000000"/>
                </a:solidFill>
                <a:latin typeface="Cambria"/>
                <a:ea typeface="Cambria"/>
                <a:cs typeface="Cambria"/>
                <a:sym typeface="Cambria"/>
              </a:rPr>
              <a:t>                   </a:t>
            </a:r>
            <a:r>
              <a:rPr lang="en-US" sz="3679">
                <a:solidFill>
                  <a:srgbClr val="000000"/>
                </a:solidFill>
                <a:latin typeface="Cambria"/>
                <a:ea typeface="Cambria"/>
                <a:cs typeface="Cambria"/>
                <a:sym typeface="Cambria"/>
              </a:rPr>
              <a:t> • Reduces regional &amp; skill-gap inequalities</a:t>
            </a:r>
          </a:p>
          <a:p>
            <a:pPr algn="just">
              <a:lnSpc>
                <a:spcPts val="4415"/>
              </a:lnSpc>
              <a:spcBef>
                <a:spcPct val="0"/>
              </a:spcBef>
            </a:pPr>
          </a:p>
        </p:txBody>
      </p:sp>
      <p:sp>
        <p:nvSpPr>
          <p:cNvPr name="Freeform 10" id="10"/>
          <p:cNvSpPr/>
          <p:nvPr/>
        </p:nvSpPr>
        <p:spPr>
          <a:xfrm flipH="false" flipV="false" rot="0">
            <a:off x="11405693" y="1925438"/>
            <a:ext cx="6058200" cy="2736881"/>
          </a:xfrm>
          <a:custGeom>
            <a:avLst/>
            <a:gdLst/>
            <a:ahLst/>
            <a:cxnLst/>
            <a:rect r="r" b="b" t="t" l="l"/>
            <a:pathLst>
              <a:path h="2736881" w="6058200">
                <a:moveTo>
                  <a:pt x="0" y="0"/>
                </a:moveTo>
                <a:lnTo>
                  <a:pt x="6058200" y="0"/>
                </a:lnTo>
                <a:lnTo>
                  <a:pt x="6058200" y="2736881"/>
                </a:lnTo>
                <a:lnTo>
                  <a:pt x="0" y="2736881"/>
                </a:lnTo>
                <a:lnTo>
                  <a:pt x="0" y="0"/>
                </a:lnTo>
                <a:close/>
              </a:path>
            </a:pathLst>
          </a:custGeom>
          <a:blipFill>
            <a:blip r:embed="rId4"/>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18318">
            <a:off x="1176223" y="1352550"/>
            <a:ext cx="16087953" cy="0"/>
          </a:xfrm>
          <a:prstGeom prst="line">
            <a:avLst/>
          </a:prstGeom>
          <a:ln cap="rnd" w="47625">
            <a:solidFill>
              <a:srgbClr val="000000"/>
            </a:solidFill>
            <a:prstDash val="solid"/>
            <a:headEnd type="none" len="sm" w="sm"/>
            <a:tailEnd type="none" len="sm" w="sm"/>
          </a:ln>
        </p:spPr>
      </p:sp>
      <p:grpSp>
        <p:nvGrpSpPr>
          <p:cNvPr name="Group 3" id="3"/>
          <p:cNvGrpSpPr/>
          <p:nvPr/>
        </p:nvGrpSpPr>
        <p:grpSpPr>
          <a:xfrm rot="0">
            <a:off x="1176337" y="-619971"/>
            <a:ext cx="16002000" cy="3081449"/>
            <a:chOff x="0" y="0"/>
            <a:chExt cx="21336000" cy="4108599"/>
          </a:xfrm>
        </p:grpSpPr>
        <p:sp>
          <p:nvSpPr>
            <p:cNvPr name="Freeform 4" id="4"/>
            <p:cNvSpPr/>
            <p:nvPr/>
          </p:nvSpPr>
          <p:spPr>
            <a:xfrm flipH="false" flipV="false" rot="0">
              <a:off x="0" y="0"/>
              <a:ext cx="21336000" cy="4108599"/>
            </a:xfrm>
            <a:custGeom>
              <a:avLst/>
              <a:gdLst/>
              <a:ahLst/>
              <a:cxnLst/>
              <a:rect r="r" b="b" t="t" l="l"/>
              <a:pathLst>
                <a:path h="4108599" w="21336000">
                  <a:moveTo>
                    <a:pt x="0" y="0"/>
                  </a:moveTo>
                  <a:lnTo>
                    <a:pt x="21336000" y="0"/>
                  </a:lnTo>
                  <a:lnTo>
                    <a:pt x="21336000" y="4108599"/>
                  </a:lnTo>
                  <a:lnTo>
                    <a:pt x="0" y="4108599"/>
                  </a:lnTo>
                  <a:close/>
                </a:path>
              </a:pathLst>
            </a:custGeom>
            <a:solidFill>
              <a:srgbClr val="000000">
                <a:alpha val="0"/>
              </a:srgbClr>
            </a:solidFill>
          </p:spPr>
        </p:sp>
        <p:sp>
          <p:nvSpPr>
            <p:cNvPr name="TextBox 5" id="5"/>
            <p:cNvSpPr txBox="true"/>
            <p:nvPr/>
          </p:nvSpPr>
          <p:spPr>
            <a:xfrm>
              <a:off x="0" y="-9525"/>
              <a:ext cx="21336000" cy="4118124"/>
            </a:xfrm>
            <a:prstGeom prst="rect">
              <a:avLst/>
            </a:prstGeom>
          </p:spPr>
          <p:txBody>
            <a:bodyPr anchor="ctr" rtlCol="false" tIns="0" lIns="0" bIns="0" rIns="0"/>
            <a:lstStyle/>
            <a:p>
              <a:pPr algn="l">
                <a:lnSpc>
                  <a:spcPts val="5040"/>
                </a:lnSpc>
              </a:pPr>
              <a:r>
                <a:rPr lang="en-US" b="true" sz="4200">
                  <a:solidFill>
                    <a:srgbClr val="17365D"/>
                  </a:solidFill>
                  <a:latin typeface="Cambria Bold"/>
                  <a:ea typeface="Cambria Bold"/>
                  <a:cs typeface="Cambria Bold"/>
                  <a:sym typeface="Cambria Bold"/>
                </a:rPr>
                <a:t>Archit</a:t>
              </a:r>
              <a:r>
                <a:rPr lang="en-US" b="true" sz="4200">
                  <a:solidFill>
                    <a:srgbClr val="17365D"/>
                  </a:solidFill>
                  <a:latin typeface="Cambria Bold"/>
                  <a:ea typeface="Cambria Bold"/>
                  <a:cs typeface="Cambria Bold"/>
                  <a:sym typeface="Cambria Bold"/>
                </a:rPr>
                <a:t>ecture Diagram</a:t>
              </a:r>
            </a:p>
          </p:txBody>
        </p:sp>
      </p:grpSp>
      <p:sp>
        <p:nvSpPr>
          <p:cNvPr name="Freeform 6" id="6"/>
          <p:cNvSpPr/>
          <p:nvPr/>
        </p:nvSpPr>
        <p:spPr>
          <a:xfrm flipH="false" flipV="false" rot="0">
            <a:off x="1341096" y="1702398"/>
            <a:ext cx="15672483" cy="8038482"/>
          </a:xfrm>
          <a:custGeom>
            <a:avLst/>
            <a:gdLst/>
            <a:ahLst/>
            <a:cxnLst/>
            <a:rect r="r" b="b" t="t" l="l"/>
            <a:pathLst>
              <a:path h="8038482" w="15672483">
                <a:moveTo>
                  <a:pt x="0" y="0"/>
                </a:moveTo>
                <a:lnTo>
                  <a:pt x="15672483" y="0"/>
                </a:lnTo>
                <a:lnTo>
                  <a:pt x="15672483" y="8038482"/>
                </a:lnTo>
                <a:lnTo>
                  <a:pt x="0" y="8038482"/>
                </a:lnTo>
                <a:lnTo>
                  <a:pt x="0" y="0"/>
                </a:lnTo>
                <a:close/>
              </a:path>
            </a:pathLst>
          </a:custGeom>
          <a:blipFill>
            <a:blip r:embed="rId3"/>
            <a:stretch>
              <a:fillRect l="0" t="-4834" r="0" b="-4834"/>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18318">
            <a:off x="1176223" y="1352550"/>
            <a:ext cx="16087953" cy="0"/>
          </a:xfrm>
          <a:prstGeom prst="line">
            <a:avLst/>
          </a:prstGeom>
          <a:ln cap="rnd" w="47625">
            <a:solidFill>
              <a:srgbClr val="000000"/>
            </a:solidFill>
            <a:prstDash val="solid"/>
            <a:headEnd type="none" len="sm" w="sm"/>
            <a:tailEnd type="none" len="sm" w="sm"/>
          </a:ln>
        </p:spPr>
      </p:sp>
      <p:grpSp>
        <p:nvGrpSpPr>
          <p:cNvPr name="Group 3" id="3"/>
          <p:cNvGrpSpPr>
            <a:grpSpLocks noChangeAspect="true"/>
          </p:cNvGrpSpPr>
          <p:nvPr/>
        </p:nvGrpSpPr>
        <p:grpSpPr>
          <a:xfrm rot="0">
            <a:off x="0" y="8987049"/>
            <a:ext cx="18288002" cy="1299949"/>
            <a:chOff x="0" y="0"/>
            <a:chExt cx="24384002" cy="1733266"/>
          </a:xfrm>
        </p:grpSpPr>
        <p:sp>
          <p:nvSpPr>
            <p:cNvPr name="Freeform 4" id="4"/>
            <p:cNvSpPr/>
            <p:nvPr/>
          </p:nvSpPr>
          <p:spPr>
            <a:xfrm flipH="false" flipV="false" rot="0">
              <a:off x="0" y="0"/>
              <a:ext cx="24384000" cy="1733296"/>
            </a:xfrm>
            <a:custGeom>
              <a:avLst/>
              <a:gdLst/>
              <a:ahLst/>
              <a:cxnLst/>
              <a:rect r="r" b="b" t="t" l="l"/>
              <a:pathLst>
                <a:path h="1733296" w="24384000">
                  <a:moveTo>
                    <a:pt x="0" y="0"/>
                  </a:moveTo>
                  <a:lnTo>
                    <a:pt x="24384000" y="0"/>
                  </a:lnTo>
                  <a:lnTo>
                    <a:pt x="24384000" y="1733296"/>
                  </a:lnTo>
                  <a:lnTo>
                    <a:pt x="0" y="1733296"/>
                  </a:lnTo>
                  <a:lnTo>
                    <a:pt x="0" y="0"/>
                  </a:lnTo>
                  <a:close/>
                </a:path>
              </a:pathLst>
            </a:custGeom>
            <a:blipFill>
              <a:blip r:embed="rId3"/>
              <a:stretch>
                <a:fillRect l="0" t="0" r="0" b="-171062"/>
              </a:stretch>
            </a:blipFill>
          </p:spPr>
        </p:sp>
      </p:grpSp>
      <p:grpSp>
        <p:nvGrpSpPr>
          <p:cNvPr name="Group 5" id="5"/>
          <p:cNvGrpSpPr/>
          <p:nvPr/>
        </p:nvGrpSpPr>
        <p:grpSpPr>
          <a:xfrm rot="0">
            <a:off x="1257300" y="-655412"/>
            <a:ext cx="16002000" cy="3079544"/>
            <a:chOff x="0" y="0"/>
            <a:chExt cx="21336000" cy="4106059"/>
          </a:xfrm>
        </p:grpSpPr>
        <p:sp>
          <p:nvSpPr>
            <p:cNvPr name="Freeform 6" id="6"/>
            <p:cNvSpPr/>
            <p:nvPr/>
          </p:nvSpPr>
          <p:spPr>
            <a:xfrm flipH="false" flipV="false" rot="0">
              <a:off x="0" y="0"/>
              <a:ext cx="21336000" cy="4106059"/>
            </a:xfrm>
            <a:custGeom>
              <a:avLst/>
              <a:gdLst/>
              <a:ahLst/>
              <a:cxnLst/>
              <a:rect r="r" b="b" t="t" l="l"/>
              <a:pathLst>
                <a:path h="4106059" w="21336000">
                  <a:moveTo>
                    <a:pt x="0" y="0"/>
                  </a:moveTo>
                  <a:lnTo>
                    <a:pt x="21336000" y="0"/>
                  </a:lnTo>
                  <a:lnTo>
                    <a:pt x="21336000" y="4106059"/>
                  </a:lnTo>
                  <a:lnTo>
                    <a:pt x="0" y="4106059"/>
                  </a:lnTo>
                  <a:close/>
                </a:path>
              </a:pathLst>
            </a:custGeom>
            <a:solidFill>
              <a:srgbClr val="000000">
                <a:alpha val="0"/>
              </a:srgbClr>
            </a:solidFill>
          </p:spPr>
        </p:sp>
        <p:sp>
          <p:nvSpPr>
            <p:cNvPr name="TextBox 7" id="7"/>
            <p:cNvSpPr txBox="true"/>
            <p:nvPr/>
          </p:nvSpPr>
          <p:spPr>
            <a:xfrm>
              <a:off x="0" y="-485775"/>
              <a:ext cx="21336000" cy="4591834"/>
            </a:xfrm>
            <a:prstGeom prst="rect">
              <a:avLst/>
            </a:prstGeom>
          </p:spPr>
          <p:txBody>
            <a:bodyPr anchor="ctr" rtlCol="false" tIns="0" lIns="0" bIns="0" rIns="0"/>
            <a:lstStyle/>
            <a:p>
              <a:pPr algn="l">
                <a:lnSpc>
                  <a:spcPts val="10080"/>
                </a:lnSpc>
              </a:pPr>
              <a:r>
                <a:rPr lang="en-US" sz="4200" b="true">
                  <a:solidFill>
                    <a:srgbClr val="17365D"/>
                  </a:solidFill>
                  <a:latin typeface="Cambria Bold"/>
                  <a:ea typeface="Cambria Bold"/>
                  <a:cs typeface="Cambria Bold"/>
                  <a:sym typeface="Cambria Bold"/>
                </a:rPr>
                <a:t>Techn</a:t>
              </a:r>
              <a:r>
                <a:rPr lang="en-US" sz="4200" b="true">
                  <a:solidFill>
                    <a:srgbClr val="17365D"/>
                  </a:solidFill>
                  <a:latin typeface="Cambria Bold"/>
                  <a:ea typeface="Cambria Bold"/>
                  <a:cs typeface="Cambria Bold"/>
                  <a:sym typeface="Cambria Bold"/>
                </a:rPr>
                <a:t>ologies Used</a:t>
              </a:r>
            </a:p>
          </p:txBody>
        </p:sp>
      </p:grpSp>
      <p:sp>
        <p:nvSpPr>
          <p:cNvPr name="TextBox 8" id="8"/>
          <p:cNvSpPr txBox="true"/>
          <p:nvPr/>
        </p:nvSpPr>
        <p:spPr>
          <a:xfrm rot="0">
            <a:off x="883585" y="1979940"/>
            <a:ext cx="15607104" cy="7553325"/>
          </a:xfrm>
          <a:prstGeom prst="rect">
            <a:avLst/>
          </a:prstGeom>
        </p:spPr>
        <p:txBody>
          <a:bodyPr anchor="t" rtlCol="false" tIns="0" lIns="0" bIns="0" rIns="0">
            <a:spAutoFit/>
          </a:bodyPr>
          <a:lstStyle/>
          <a:p>
            <a:pPr algn="l">
              <a:lnSpc>
                <a:spcPts val="3356"/>
              </a:lnSpc>
            </a:pPr>
            <a:r>
              <a:rPr lang="en-US" sz="2796" b="true">
                <a:solidFill>
                  <a:srgbClr val="000000"/>
                </a:solidFill>
                <a:latin typeface="Cambria Bold"/>
                <a:ea typeface="Cambria Bold"/>
                <a:cs typeface="Cambria Bold"/>
                <a:sym typeface="Cambria Bold"/>
              </a:rPr>
              <a:t>1. Back</a:t>
            </a:r>
            <a:r>
              <a:rPr lang="en-US" b="true" sz="2796">
                <a:solidFill>
                  <a:srgbClr val="000000"/>
                </a:solidFill>
                <a:latin typeface="Cambria Bold"/>
                <a:ea typeface="Cambria Bold"/>
                <a:cs typeface="Cambria Bold"/>
                <a:sym typeface="Cambria Bold"/>
              </a:rPr>
              <a:t>end:</a:t>
            </a:r>
          </a:p>
          <a:p>
            <a:pPr algn="l" marL="603847" indent="-301924" lvl="1">
              <a:lnSpc>
                <a:spcPts val="3356"/>
              </a:lnSpc>
              <a:buFont typeface="Arial"/>
              <a:buChar char="•"/>
            </a:pPr>
            <a:r>
              <a:rPr lang="en-US" sz="2796">
                <a:solidFill>
                  <a:srgbClr val="000000"/>
                </a:solidFill>
                <a:latin typeface="Cambria"/>
                <a:ea typeface="Cambria"/>
                <a:cs typeface="Cambria"/>
                <a:sym typeface="Cambria"/>
              </a:rPr>
              <a:t>Pyt</a:t>
            </a:r>
            <a:r>
              <a:rPr lang="en-US" sz="2796">
                <a:solidFill>
                  <a:srgbClr val="000000"/>
                </a:solidFill>
                <a:latin typeface="Cambria"/>
                <a:ea typeface="Cambria"/>
                <a:cs typeface="Cambria"/>
                <a:sym typeface="Cambria"/>
              </a:rPr>
              <a:t>hon.</a:t>
            </a:r>
          </a:p>
          <a:p>
            <a:pPr algn="l" marL="603847" indent="-301924" lvl="1">
              <a:lnSpc>
                <a:spcPts val="3356"/>
              </a:lnSpc>
              <a:buFont typeface="Arial"/>
              <a:buChar char="•"/>
            </a:pPr>
            <a:r>
              <a:rPr lang="en-US" sz="2796">
                <a:solidFill>
                  <a:srgbClr val="000000"/>
                </a:solidFill>
                <a:latin typeface="Cambria"/>
                <a:ea typeface="Cambria"/>
                <a:cs typeface="Cambria"/>
                <a:sym typeface="Cambria"/>
              </a:rPr>
              <a:t>Pandas.</a:t>
            </a:r>
          </a:p>
          <a:p>
            <a:pPr algn="l" marL="603847" indent="-301924" lvl="1">
              <a:lnSpc>
                <a:spcPts val="3356"/>
              </a:lnSpc>
              <a:buFont typeface="Arial"/>
              <a:buChar char="•"/>
            </a:pPr>
            <a:r>
              <a:rPr lang="en-US" sz="2796">
                <a:solidFill>
                  <a:srgbClr val="000000"/>
                </a:solidFill>
                <a:latin typeface="Cambria"/>
                <a:ea typeface="Cambria"/>
                <a:cs typeface="Cambria"/>
                <a:sym typeface="Cambria"/>
              </a:rPr>
              <a:t>NumPy.</a:t>
            </a:r>
          </a:p>
          <a:p>
            <a:pPr algn="l" marL="603847" indent="-301924" lvl="1">
              <a:lnSpc>
                <a:spcPts val="3356"/>
              </a:lnSpc>
              <a:buFont typeface="Arial"/>
              <a:buChar char="•"/>
            </a:pPr>
            <a:r>
              <a:rPr lang="en-US" sz="2796">
                <a:solidFill>
                  <a:srgbClr val="000000"/>
                </a:solidFill>
                <a:latin typeface="Cambria"/>
                <a:ea typeface="Cambria"/>
                <a:cs typeface="Cambria"/>
                <a:sym typeface="Cambria"/>
              </a:rPr>
              <a:t>PostgreSQL.</a:t>
            </a:r>
          </a:p>
          <a:p>
            <a:pPr algn="l">
              <a:lnSpc>
                <a:spcPts val="3356"/>
              </a:lnSpc>
            </a:pPr>
            <a:r>
              <a:rPr lang="en-US" b="true" sz="2796">
                <a:solidFill>
                  <a:srgbClr val="000000"/>
                </a:solidFill>
                <a:latin typeface="Cambria Bold"/>
                <a:ea typeface="Cambria Bold"/>
                <a:cs typeface="Cambria Bold"/>
                <a:sym typeface="Cambria Bold"/>
              </a:rPr>
              <a:t>2. ML (Recommender):</a:t>
            </a:r>
          </a:p>
          <a:p>
            <a:pPr algn="l" marL="603847" indent="-301924" lvl="1">
              <a:lnSpc>
                <a:spcPts val="3356"/>
              </a:lnSpc>
              <a:buFont typeface="Arial"/>
              <a:buChar char="•"/>
            </a:pPr>
            <a:r>
              <a:rPr lang="en-US" sz="2796">
                <a:solidFill>
                  <a:srgbClr val="000000"/>
                </a:solidFill>
                <a:latin typeface="Cambria"/>
                <a:ea typeface="Cambria"/>
                <a:cs typeface="Cambria"/>
                <a:sym typeface="Cambria"/>
              </a:rPr>
              <a:t>scikit-learn.</a:t>
            </a:r>
          </a:p>
          <a:p>
            <a:pPr algn="l" marL="603847" indent="-301924" lvl="1">
              <a:lnSpc>
                <a:spcPts val="3356"/>
              </a:lnSpc>
              <a:buFont typeface="Arial"/>
              <a:buChar char="•"/>
            </a:pPr>
            <a:r>
              <a:rPr lang="en-US" sz="2796">
                <a:solidFill>
                  <a:srgbClr val="000000"/>
                </a:solidFill>
                <a:latin typeface="Cambria"/>
                <a:ea typeface="Cambria"/>
                <a:cs typeface="Cambria"/>
                <a:sym typeface="Cambria"/>
              </a:rPr>
              <a:t>Cosine similarity.</a:t>
            </a:r>
          </a:p>
          <a:p>
            <a:pPr algn="l" marL="603847" indent="-301924" lvl="1">
              <a:lnSpc>
                <a:spcPts val="3356"/>
              </a:lnSpc>
              <a:buFont typeface="Arial"/>
              <a:buChar char="•"/>
            </a:pPr>
            <a:r>
              <a:rPr lang="en-US" sz="2796">
                <a:solidFill>
                  <a:srgbClr val="000000"/>
                </a:solidFill>
                <a:latin typeface="Cambria"/>
                <a:ea typeface="Cambria"/>
                <a:cs typeface="Cambria"/>
                <a:sym typeface="Cambria"/>
              </a:rPr>
              <a:t>Content-based filtering</a:t>
            </a:r>
            <a:r>
              <a:rPr lang="en-US" sz="2796">
                <a:solidFill>
                  <a:srgbClr val="000000"/>
                </a:solidFill>
                <a:latin typeface="Cambria"/>
                <a:ea typeface="Cambria"/>
                <a:cs typeface="Cambria"/>
                <a:sym typeface="Cambria"/>
              </a:rPr>
              <a:t>.</a:t>
            </a:r>
          </a:p>
          <a:p>
            <a:pPr algn="l">
              <a:lnSpc>
                <a:spcPts val="3356"/>
              </a:lnSpc>
            </a:pPr>
            <a:r>
              <a:rPr lang="en-US" b="true" sz="2796">
                <a:solidFill>
                  <a:srgbClr val="000000"/>
                </a:solidFill>
                <a:latin typeface="Cambria Bold"/>
                <a:ea typeface="Cambria Bold"/>
                <a:cs typeface="Cambria Bold"/>
                <a:sym typeface="Cambria Bold"/>
              </a:rPr>
              <a:t>3. Frontend:</a:t>
            </a:r>
          </a:p>
          <a:p>
            <a:pPr algn="l" marL="603847" indent="-301924" lvl="1">
              <a:lnSpc>
                <a:spcPts val="3356"/>
              </a:lnSpc>
              <a:buFont typeface="Arial"/>
              <a:buChar char="•"/>
            </a:pPr>
            <a:r>
              <a:rPr lang="en-US" sz="2796">
                <a:solidFill>
                  <a:srgbClr val="000000"/>
                </a:solidFill>
                <a:latin typeface="Cambria"/>
                <a:ea typeface="Cambria"/>
                <a:cs typeface="Cambria"/>
                <a:sym typeface="Cambria"/>
              </a:rPr>
              <a:t>S</a:t>
            </a:r>
            <a:r>
              <a:rPr lang="en-US" sz="2796">
                <a:solidFill>
                  <a:srgbClr val="000000"/>
                </a:solidFill>
                <a:latin typeface="Cambria"/>
                <a:ea typeface="Cambria"/>
                <a:cs typeface="Cambria"/>
                <a:sym typeface="Cambria"/>
              </a:rPr>
              <a:t>treamlit.</a:t>
            </a:r>
          </a:p>
          <a:p>
            <a:pPr algn="l" marL="603847" indent="-301924" lvl="1">
              <a:lnSpc>
                <a:spcPts val="3356"/>
              </a:lnSpc>
              <a:buFont typeface="Arial"/>
              <a:buChar char="•"/>
            </a:pPr>
            <a:r>
              <a:rPr lang="en-US" sz="2796">
                <a:solidFill>
                  <a:srgbClr val="000000"/>
                </a:solidFill>
                <a:latin typeface="Cambria"/>
                <a:ea typeface="Cambria"/>
                <a:cs typeface="Cambria"/>
                <a:sym typeface="Cambria"/>
              </a:rPr>
              <a:t>Plotly.</a:t>
            </a:r>
          </a:p>
          <a:p>
            <a:pPr algn="l" marL="603847" indent="-301924" lvl="1">
              <a:lnSpc>
                <a:spcPts val="3356"/>
              </a:lnSpc>
              <a:buFont typeface="Arial"/>
              <a:buChar char="•"/>
            </a:pPr>
            <a:r>
              <a:rPr lang="en-US" sz="2796">
                <a:solidFill>
                  <a:srgbClr val="000000"/>
                </a:solidFill>
                <a:latin typeface="Cambria"/>
                <a:ea typeface="Cambria"/>
                <a:cs typeface="Cambria"/>
                <a:sym typeface="Cambria"/>
              </a:rPr>
              <a:t>Altair.</a:t>
            </a:r>
          </a:p>
          <a:p>
            <a:pPr algn="l" marL="603847" indent="-301924" lvl="1">
              <a:lnSpc>
                <a:spcPts val="3356"/>
              </a:lnSpc>
              <a:buFont typeface="Arial"/>
              <a:buChar char="•"/>
            </a:pPr>
            <a:r>
              <a:rPr lang="en-US" sz="2796">
                <a:solidFill>
                  <a:srgbClr val="000000"/>
                </a:solidFill>
                <a:latin typeface="Cambria"/>
                <a:ea typeface="Cambria"/>
                <a:cs typeface="Cambria"/>
                <a:sym typeface="Cambria"/>
              </a:rPr>
              <a:t>Matplotlib.</a:t>
            </a:r>
          </a:p>
          <a:p>
            <a:pPr algn="l">
              <a:lnSpc>
                <a:spcPts val="3356"/>
              </a:lnSpc>
            </a:pPr>
            <a:r>
              <a:rPr lang="en-US" b="true" sz="2796">
                <a:solidFill>
                  <a:srgbClr val="000000"/>
                </a:solidFill>
                <a:latin typeface="Cambria Bold"/>
                <a:ea typeface="Cambria Bold"/>
                <a:cs typeface="Cambria Bold"/>
                <a:sym typeface="Cambria Bold"/>
              </a:rPr>
              <a:t>4. Dev Tools:</a:t>
            </a:r>
          </a:p>
          <a:p>
            <a:pPr algn="l" marL="603847" indent="-301924" lvl="1">
              <a:lnSpc>
                <a:spcPts val="3356"/>
              </a:lnSpc>
              <a:buFont typeface="Arial"/>
              <a:buChar char="•"/>
            </a:pPr>
            <a:r>
              <a:rPr lang="en-US" sz="2796">
                <a:solidFill>
                  <a:srgbClr val="000000"/>
                </a:solidFill>
                <a:latin typeface="Cambria"/>
                <a:ea typeface="Cambria"/>
                <a:cs typeface="Cambria"/>
                <a:sym typeface="Cambria"/>
              </a:rPr>
              <a:t>G</a:t>
            </a:r>
            <a:r>
              <a:rPr lang="en-US" sz="2796">
                <a:solidFill>
                  <a:srgbClr val="000000"/>
                </a:solidFill>
                <a:latin typeface="Cambria"/>
                <a:ea typeface="Cambria"/>
                <a:cs typeface="Cambria"/>
                <a:sym typeface="Cambria"/>
              </a:rPr>
              <a:t>itHub.</a:t>
            </a:r>
          </a:p>
          <a:p>
            <a:pPr algn="l" marL="603847" indent="-301924" lvl="1">
              <a:lnSpc>
                <a:spcPts val="3356"/>
              </a:lnSpc>
              <a:buFont typeface="Arial"/>
              <a:buChar char="•"/>
            </a:pPr>
            <a:r>
              <a:rPr lang="en-US" sz="2796">
                <a:solidFill>
                  <a:srgbClr val="000000"/>
                </a:solidFill>
                <a:latin typeface="Cambria"/>
                <a:ea typeface="Cambria"/>
                <a:cs typeface="Cambria"/>
                <a:sym typeface="Cambria"/>
              </a:rPr>
              <a:t>Faker for synthetic data generation.</a:t>
            </a:r>
          </a:p>
          <a:p>
            <a:pPr algn="l">
              <a:lnSpc>
                <a:spcPts val="3356"/>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18318">
            <a:off x="1176223" y="1352550"/>
            <a:ext cx="16087953" cy="0"/>
          </a:xfrm>
          <a:prstGeom prst="line">
            <a:avLst/>
          </a:prstGeom>
          <a:ln cap="rnd" w="47625">
            <a:solidFill>
              <a:srgbClr val="000000"/>
            </a:solidFill>
            <a:prstDash val="solid"/>
            <a:headEnd type="none" len="sm" w="sm"/>
            <a:tailEnd type="none" len="sm" w="sm"/>
          </a:ln>
        </p:spPr>
      </p:sp>
      <p:grpSp>
        <p:nvGrpSpPr>
          <p:cNvPr name="Group 3" id="3"/>
          <p:cNvGrpSpPr>
            <a:grpSpLocks noChangeAspect="true"/>
          </p:cNvGrpSpPr>
          <p:nvPr/>
        </p:nvGrpSpPr>
        <p:grpSpPr>
          <a:xfrm rot="0">
            <a:off x="0" y="8987049"/>
            <a:ext cx="18288002" cy="1299949"/>
            <a:chOff x="0" y="0"/>
            <a:chExt cx="24384002" cy="1733266"/>
          </a:xfrm>
        </p:grpSpPr>
        <p:sp>
          <p:nvSpPr>
            <p:cNvPr name="Freeform 4" id="4"/>
            <p:cNvSpPr/>
            <p:nvPr/>
          </p:nvSpPr>
          <p:spPr>
            <a:xfrm flipH="false" flipV="false" rot="0">
              <a:off x="0" y="0"/>
              <a:ext cx="24384000" cy="1733296"/>
            </a:xfrm>
            <a:custGeom>
              <a:avLst/>
              <a:gdLst/>
              <a:ahLst/>
              <a:cxnLst/>
              <a:rect r="r" b="b" t="t" l="l"/>
              <a:pathLst>
                <a:path h="1733296" w="24384000">
                  <a:moveTo>
                    <a:pt x="0" y="0"/>
                  </a:moveTo>
                  <a:lnTo>
                    <a:pt x="24384000" y="0"/>
                  </a:lnTo>
                  <a:lnTo>
                    <a:pt x="24384000" y="1733296"/>
                  </a:lnTo>
                  <a:lnTo>
                    <a:pt x="0" y="1733296"/>
                  </a:lnTo>
                  <a:lnTo>
                    <a:pt x="0" y="0"/>
                  </a:lnTo>
                  <a:close/>
                </a:path>
              </a:pathLst>
            </a:custGeom>
            <a:blipFill>
              <a:blip r:embed="rId3"/>
              <a:stretch>
                <a:fillRect l="0" t="0" r="0" b="-171062"/>
              </a:stretch>
            </a:blipFill>
          </p:spPr>
        </p:sp>
      </p:grpSp>
      <p:grpSp>
        <p:nvGrpSpPr>
          <p:cNvPr name="Group 5" id="5"/>
          <p:cNvGrpSpPr/>
          <p:nvPr/>
        </p:nvGrpSpPr>
        <p:grpSpPr>
          <a:xfrm rot="0">
            <a:off x="1257300" y="-655412"/>
            <a:ext cx="16002000" cy="3079544"/>
            <a:chOff x="0" y="0"/>
            <a:chExt cx="21336000" cy="4106059"/>
          </a:xfrm>
        </p:grpSpPr>
        <p:sp>
          <p:nvSpPr>
            <p:cNvPr name="Freeform 6" id="6"/>
            <p:cNvSpPr/>
            <p:nvPr/>
          </p:nvSpPr>
          <p:spPr>
            <a:xfrm flipH="false" flipV="false" rot="0">
              <a:off x="0" y="0"/>
              <a:ext cx="21336000" cy="4106059"/>
            </a:xfrm>
            <a:custGeom>
              <a:avLst/>
              <a:gdLst/>
              <a:ahLst/>
              <a:cxnLst/>
              <a:rect r="r" b="b" t="t" l="l"/>
              <a:pathLst>
                <a:path h="4106059" w="21336000">
                  <a:moveTo>
                    <a:pt x="0" y="0"/>
                  </a:moveTo>
                  <a:lnTo>
                    <a:pt x="21336000" y="0"/>
                  </a:lnTo>
                  <a:lnTo>
                    <a:pt x="21336000" y="4106059"/>
                  </a:lnTo>
                  <a:lnTo>
                    <a:pt x="0" y="4106059"/>
                  </a:lnTo>
                  <a:close/>
                </a:path>
              </a:pathLst>
            </a:custGeom>
            <a:solidFill>
              <a:srgbClr val="000000">
                <a:alpha val="0"/>
              </a:srgbClr>
            </a:solidFill>
          </p:spPr>
        </p:sp>
        <p:sp>
          <p:nvSpPr>
            <p:cNvPr name="TextBox 7" id="7"/>
            <p:cNvSpPr txBox="true"/>
            <p:nvPr/>
          </p:nvSpPr>
          <p:spPr>
            <a:xfrm>
              <a:off x="0" y="-485775"/>
              <a:ext cx="21336000" cy="4591834"/>
            </a:xfrm>
            <a:prstGeom prst="rect">
              <a:avLst/>
            </a:prstGeom>
          </p:spPr>
          <p:txBody>
            <a:bodyPr anchor="ctr" rtlCol="false" tIns="0" lIns="0" bIns="0" rIns="0"/>
            <a:lstStyle/>
            <a:p>
              <a:pPr algn="l">
                <a:lnSpc>
                  <a:spcPts val="10080"/>
                </a:lnSpc>
              </a:pPr>
              <a:r>
                <a:rPr lang="en-US" sz="4200" b="true">
                  <a:solidFill>
                    <a:srgbClr val="17365D"/>
                  </a:solidFill>
                  <a:latin typeface="Cambria Bold"/>
                  <a:ea typeface="Cambria Bold"/>
                  <a:cs typeface="Cambria Bold"/>
                  <a:sym typeface="Cambria Bold"/>
                </a:rPr>
                <a:t>M</a:t>
              </a:r>
              <a:r>
                <a:rPr lang="en-US" sz="4200" b="true">
                  <a:solidFill>
                    <a:srgbClr val="17365D"/>
                  </a:solidFill>
                  <a:latin typeface="Cambria Bold"/>
                  <a:ea typeface="Cambria Bold"/>
                  <a:cs typeface="Cambria Bold"/>
                  <a:sym typeface="Cambria Bold"/>
                </a:rPr>
                <a:t>odules</a:t>
              </a:r>
            </a:p>
          </p:txBody>
        </p:sp>
      </p:grpSp>
      <p:sp>
        <p:nvSpPr>
          <p:cNvPr name="TextBox 8" id="8"/>
          <p:cNvSpPr txBox="true"/>
          <p:nvPr/>
        </p:nvSpPr>
        <p:spPr>
          <a:xfrm rot="0">
            <a:off x="883585" y="1979940"/>
            <a:ext cx="15607104" cy="7134225"/>
          </a:xfrm>
          <a:prstGeom prst="rect">
            <a:avLst/>
          </a:prstGeom>
        </p:spPr>
        <p:txBody>
          <a:bodyPr anchor="t" rtlCol="false" tIns="0" lIns="0" bIns="0" rIns="0">
            <a:spAutoFit/>
          </a:bodyPr>
          <a:lstStyle/>
          <a:p>
            <a:pPr algn="l">
              <a:lnSpc>
                <a:spcPts val="3356"/>
              </a:lnSpc>
            </a:pPr>
            <a:r>
              <a:rPr lang="en-US" sz="2796" b="true">
                <a:solidFill>
                  <a:srgbClr val="000000"/>
                </a:solidFill>
                <a:latin typeface="Cambria Bold"/>
                <a:ea typeface="Cambria Bold"/>
                <a:cs typeface="Cambria Bold"/>
                <a:sym typeface="Cambria Bold"/>
              </a:rPr>
              <a:t>1. Data</a:t>
            </a:r>
            <a:r>
              <a:rPr lang="en-US" b="true" sz="2796">
                <a:solidFill>
                  <a:srgbClr val="000000"/>
                </a:solidFill>
                <a:latin typeface="Cambria Bold"/>
                <a:ea typeface="Cambria Bold"/>
                <a:cs typeface="Cambria Bold"/>
                <a:sym typeface="Cambria Bold"/>
              </a:rPr>
              <a:t> Collection Module</a:t>
            </a:r>
          </a:p>
          <a:p>
            <a:pPr algn="l" marL="603847" indent="-301924" lvl="1">
              <a:lnSpc>
                <a:spcPts val="3356"/>
              </a:lnSpc>
              <a:buFont typeface="Arial"/>
              <a:buChar char="•"/>
            </a:pPr>
            <a:r>
              <a:rPr lang="en-US" sz="2796">
                <a:solidFill>
                  <a:srgbClr val="000000"/>
                </a:solidFill>
                <a:latin typeface="Cambria"/>
                <a:ea typeface="Cambria"/>
                <a:cs typeface="Cambria"/>
                <a:sym typeface="Cambria"/>
              </a:rPr>
              <a:t>Collects u</a:t>
            </a:r>
            <a:r>
              <a:rPr lang="en-US" sz="2796">
                <a:solidFill>
                  <a:srgbClr val="000000"/>
                </a:solidFill>
                <a:latin typeface="Cambria"/>
                <a:ea typeface="Cambria"/>
                <a:cs typeface="Cambria"/>
                <a:sym typeface="Cambria"/>
              </a:rPr>
              <a:t>ser demographics, job postings, applications, and activity logs.</a:t>
            </a:r>
          </a:p>
          <a:p>
            <a:pPr algn="l" marL="603847" indent="-301924" lvl="1">
              <a:lnSpc>
                <a:spcPts val="3356"/>
              </a:lnSpc>
              <a:buFont typeface="Arial"/>
              <a:buChar char="•"/>
            </a:pPr>
            <a:r>
              <a:rPr lang="en-US" sz="2796">
                <a:solidFill>
                  <a:srgbClr val="000000"/>
                </a:solidFill>
                <a:latin typeface="Cambria"/>
                <a:ea typeface="Cambria"/>
                <a:cs typeface="Cambria"/>
                <a:sym typeface="Cambria"/>
              </a:rPr>
              <a:t>Input stored as CSVs/databases.</a:t>
            </a:r>
          </a:p>
          <a:p>
            <a:pPr algn="l">
              <a:lnSpc>
                <a:spcPts val="3356"/>
              </a:lnSpc>
            </a:pPr>
          </a:p>
          <a:p>
            <a:pPr algn="l">
              <a:lnSpc>
                <a:spcPts val="3356"/>
              </a:lnSpc>
            </a:pPr>
            <a:r>
              <a:rPr lang="en-US" b="true" sz="2796">
                <a:solidFill>
                  <a:srgbClr val="000000"/>
                </a:solidFill>
                <a:latin typeface="Cambria Bold"/>
                <a:ea typeface="Cambria Bold"/>
                <a:cs typeface="Cambria Bold"/>
                <a:sym typeface="Cambria Bold"/>
              </a:rPr>
              <a:t>2. Analytics Module.</a:t>
            </a:r>
          </a:p>
          <a:p>
            <a:pPr algn="l" marL="603847" indent="-301924" lvl="1">
              <a:lnSpc>
                <a:spcPts val="3356"/>
              </a:lnSpc>
              <a:buFont typeface="Arial"/>
              <a:buChar char="•"/>
            </a:pPr>
            <a:r>
              <a:rPr lang="en-US" sz="2796">
                <a:solidFill>
                  <a:srgbClr val="000000"/>
                </a:solidFill>
                <a:latin typeface="Cambria"/>
                <a:ea typeface="Cambria"/>
                <a:cs typeface="Cambria"/>
                <a:sym typeface="Cambria"/>
              </a:rPr>
              <a:t>Generates descriptive statistics and charts (gender, education, age, location, application success).</a:t>
            </a:r>
          </a:p>
          <a:p>
            <a:pPr algn="l" marL="603847" indent="-301924" lvl="1">
              <a:lnSpc>
                <a:spcPts val="3356"/>
              </a:lnSpc>
              <a:buFont typeface="Arial"/>
              <a:buChar char="•"/>
            </a:pPr>
            <a:r>
              <a:rPr lang="en-US" sz="2796">
                <a:solidFill>
                  <a:srgbClr val="000000"/>
                </a:solidFill>
                <a:latin typeface="Cambria"/>
                <a:ea typeface="Cambria"/>
                <a:cs typeface="Cambria"/>
                <a:sym typeface="Cambria"/>
              </a:rPr>
              <a:t>Helps administrators understand user base and trends.</a:t>
            </a:r>
          </a:p>
          <a:p>
            <a:pPr algn="l">
              <a:lnSpc>
                <a:spcPts val="3356"/>
              </a:lnSpc>
            </a:pPr>
          </a:p>
          <a:p>
            <a:pPr algn="l">
              <a:lnSpc>
                <a:spcPts val="3356"/>
              </a:lnSpc>
            </a:pPr>
            <a:r>
              <a:rPr lang="en-US" b="true" sz="2796">
                <a:solidFill>
                  <a:srgbClr val="000000"/>
                </a:solidFill>
                <a:latin typeface="Cambria Bold"/>
                <a:ea typeface="Cambria Bold"/>
                <a:cs typeface="Cambria Bold"/>
                <a:sym typeface="Cambria Bold"/>
              </a:rPr>
              <a:t>3. Recommender Module.</a:t>
            </a:r>
          </a:p>
          <a:p>
            <a:pPr algn="l" marL="603847" indent="-301924" lvl="1">
              <a:lnSpc>
                <a:spcPts val="3356"/>
              </a:lnSpc>
              <a:buFont typeface="Arial"/>
              <a:buChar char="•"/>
            </a:pPr>
            <a:r>
              <a:rPr lang="en-US" sz="2796">
                <a:solidFill>
                  <a:srgbClr val="000000"/>
                </a:solidFill>
                <a:latin typeface="Cambria"/>
                <a:ea typeface="Cambria"/>
                <a:cs typeface="Cambria"/>
                <a:sym typeface="Cambria"/>
              </a:rPr>
              <a:t>Matches skills and job requirements.</a:t>
            </a:r>
          </a:p>
          <a:p>
            <a:pPr algn="l" marL="603847" indent="-301924" lvl="1">
              <a:lnSpc>
                <a:spcPts val="3356"/>
              </a:lnSpc>
              <a:buFont typeface="Arial"/>
              <a:buChar char="•"/>
            </a:pPr>
            <a:r>
              <a:rPr lang="en-US" sz="2796">
                <a:solidFill>
                  <a:srgbClr val="000000"/>
                </a:solidFill>
                <a:latin typeface="Cambria"/>
                <a:ea typeface="Cambria"/>
                <a:cs typeface="Cambria"/>
                <a:sym typeface="Cambria"/>
              </a:rPr>
              <a:t>Uses content-based filtering with future scope of collaborative filtering and genetic algorithms.</a:t>
            </a:r>
          </a:p>
          <a:p>
            <a:pPr algn="l" marL="603847" indent="-301924" lvl="1">
              <a:lnSpc>
                <a:spcPts val="3356"/>
              </a:lnSpc>
              <a:buFont typeface="Arial"/>
              <a:buChar char="•"/>
            </a:pPr>
            <a:r>
              <a:rPr lang="en-US" sz="2796">
                <a:solidFill>
                  <a:srgbClr val="000000"/>
                </a:solidFill>
                <a:latin typeface="Cambria"/>
                <a:ea typeface="Cambria"/>
                <a:cs typeface="Cambria"/>
                <a:sym typeface="Cambria"/>
              </a:rPr>
              <a:t>Provides explainable recommendations (why the job was suggested).</a:t>
            </a:r>
          </a:p>
          <a:p>
            <a:pPr algn="l">
              <a:lnSpc>
                <a:spcPts val="3356"/>
              </a:lnSpc>
            </a:pPr>
          </a:p>
          <a:p>
            <a:pPr algn="l">
              <a:lnSpc>
                <a:spcPts val="3356"/>
              </a:lnSpc>
            </a:pPr>
            <a:r>
              <a:rPr lang="en-US" b="true" sz="2796">
                <a:solidFill>
                  <a:srgbClr val="000000"/>
                </a:solidFill>
                <a:latin typeface="Cambria Bold"/>
                <a:ea typeface="Cambria Bold"/>
                <a:cs typeface="Cambria Bold"/>
                <a:sym typeface="Cambria Bold"/>
              </a:rPr>
              <a:t>4. Visualization Module (Dashboard)</a:t>
            </a:r>
          </a:p>
          <a:p>
            <a:pPr algn="l" marL="603847" indent="-301924" lvl="1">
              <a:lnSpc>
                <a:spcPts val="3356"/>
              </a:lnSpc>
              <a:buFont typeface="Arial"/>
              <a:buChar char="•"/>
            </a:pPr>
            <a:r>
              <a:rPr lang="en-US" sz="2796">
                <a:solidFill>
                  <a:srgbClr val="000000"/>
                </a:solidFill>
                <a:latin typeface="Cambria"/>
                <a:ea typeface="Cambria"/>
                <a:cs typeface="Cambria"/>
                <a:sym typeface="Cambria"/>
              </a:rPr>
              <a:t>Interactive dashboard for administrators and users.</a:t>
            </a:r>
          </a:p>
          <a:p>
            <a:pPr algn="l" marL="603847" indent="-301924" lvl="1">
              <a:lnSpc>
                <a:spcPts val="3356"/>
              </a:lnSpc>
              <a:buFont typeface="Arial"/>
              <a:buChar char="•"/>
            </a:pPr>
            <a:r>
              <a:rPr lang="en-US" sz="2796">
                <a:solidFill>
                  <a:srgbClr val="000000"/>
                </a:solidFill>
                <a:latin typeface="Cambria"/>
                <a:ea typeface="Cambria"/>
                <a:cs typeface="Cambria"/>
                <a:sym typeface="Cambria"/>
              </a:rPr>
              <a:t>Displays analytics, trends, and top job recommendations.</a:t>
            </a:r>
          </a:p>
          <a:p>
            <a:pPr algn="l">
              <a:lnSpc>
                <a:spcPts val="3356"/>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18318">
            <a:off x="1176223" y="1352550"/>
            <a:ext cx="16087953" cy="0"/>
          </a:xfrm>
          <a:prstGeom prst="line">
            <a:avLst/>
          </a:prstGeom>
          <a:ln cap="rnd" w="47625">
            <a:solidFill>
              <a:srgbClr val="000000"/>
            </a:solidFill>
            <a:prstDash val="solid"/>
            <a:headEnd type="none" len="sm" w="sm"/>
            <a:tailEnd type="none" len="sm" w="sm"/>
          </a:ln>
        </p:spPr>
      </p:sp>
      <p:grpSp>
        <p:nvGrpSpPr>
          <p:cNvPr name="Group 3" id="3"/>
          <p:cNvGrpSpPr>
            <a:grpSpLocks noChangeAspect="true"/>
          </p:cNvGrpSpPr>
          <p:nvPr/>
        </p:nvGrpSpPr>
        <p:grpSpPr>
          <a:xfrm rot="0">
            <a:off x="0" y="8987049"/>
            <a:ext cx="18288002" cy="1299949"/>
            <a:chOff x="0" y="0"/>
            <a:chExt cx="24384002" cy="1733266"/>
          </a:xfrm>
        </p:grpSpPr>
        <p:sp>
          <p:nvSpPr>
            <p:cNvPr name="Freeform 4" id="4"/>
            <p:cNvSpPr/>
            <p:nvPr/>
          </p:nvSpPr>
          <p:spPr>
            <a:xfrm flipH="false" flipV="false" rot="0">
              <a:off x="0" y="0"/>
              <a:ext cx="24384000" cy="1733296"/>
            </a:xfrm>
            <a:custGeom>
              <a:avLst/>
              <a:gdLst/>
              <a:ahLst/>
              <a:cxnLst/>
              <a:rect r="r" b="b" t="t" l="l"/>
              <a:pathLst>
                <a:path h="1733296" w="24384000">
                  <a:moveTo>
                    <a:pt x="0" y="0"/>
                  </a:moveTo>
                  <a:lnTo>
                    <a:pt x="24384000" y="0"/>
                  </a:lnTo>
                  <a:lnTo>
                    <a:pt x="24384000" y="1733296"/>
                  </a:lnTo>
                  <a:lnTo>
                    <a:pt x="0" y="1733296"/>
                  </a:lnTo>
                  <a:lnTo>
                    <a:pt x="0" y="0"/>
                  </a:lnTo>
                  <a:close/>
                </a:path>
              </a:pathLst>
            </a:custGeom>
            <a:blipFill>
              <a:blip r:embed="rId3"/>
              <a:stretch>
                <a:fillRect l="0" t="0" r="0" b="-171062"/>
              </a:stretch>
            </a:blipFill>
          </p:spPr>
        </p:sp>
      </p:grpSp>
      <p:grpSp>
        <p:nvGrpSpPr>
          <p:cNvPr name="Group 5" id="5"/>
          <p:cNvGrpSpPr/>
          <p:nvPr/>
        </p:nvGrpSpPr>
        <p:grpSpPr>
          <a:xfrm rot="0">
            <a:off x="1257300" y="-655412"/>
            <a:ext cx="16002000" cy="3079544"/>
            <a:chOff x="0" y="0"/>
            <a:chExt cx="21336000" cy="4106059"/>
          </a:xfrm>
        </p:grpSpPr>
        <p:sp>
          <p:nvSpPr>
            <p:cNvPr name="Freeform 6" id="6"/>
            <p:cNvSpPr/>
            <p:nvPr/>
          </p:nvSpPr>
          <p:spPr>
            <a:xfrm flipH="false" flipV="false" rot="0">
              <a:off x="0" y="0"/>
              <a:ext cx="21336000" cy="4106059"/>
            </a:xfrm>
            <a:custGeom>
              <a:avLst/>
              <a:gdLst/>
              <a:ahLst/>
              <a:cxnLst/>
              <a:rect r="r" b="b" t="t" l="l"/>
              <a:pathLst>
                <a:path h="4106059" w="21336000">
                  <a:moveTo>
                    <a:pt x="0" y="0"/>
                  </a:moveTo>
                  <a:lnTo>
                    <a:pt x="21336000" y="0"/>
                  </a:lnTo>
                  <a:lnTo>
                    <a:pt x="21336000" y="4106059"/>
                  </a:lnTo>
                  <a:lnTo>
                    <a:pt x="0" y="4106059"/>
                  </a:lnTo>
                  <a:close/>
                </a:path>
              </a:pathLst>
            </a:custGeom>
            <a:solidFill>
              <a:srgbClr val="000000">
                <a:alpha val="0"/>
              </a:srgbClr>
            </a:solidFill>
          </p:spPr>
        </p:sp>
        <p:sp>
          <p:nvSpPr>
            <p:cNvPr name="TextBox 7" id="7"/>
            <p:cNvSpPr txBox="true"/>
            <p:nvPr/>
          </p:nvSpPr>
          <p:spPr>
            <a:xfrm>
              <a:off x="0" y="-485775"/>
              <a:ext cx="21336000" cy="4591834"/>
            </a:xfrm>
            <a:prstGeom prst="rect">
              <a:avLst/>
            </a:prstGeom>
          </p:spPr>
          <p:txBody>
            <a:bodyPr anchor="ctr" rtlCol="false" tIns="0" lIns="0" bIns="0" rIns="0"/>
            <a:lstStyle/>
            <a:p>
              <a:pPr algn="l">
                <a:lnSpc>
                  <a:spcPts val="10080"/>
                </a:lnSpc>
              </a:pPr>
              <a:r>
                <a:rPr lang="en-US" sz="4200" b="true">
                  <a:solidFill>
                    <a:srgbClr val="17365D"/>
                  </a:solidFill>
                  <a:latin typeface="Cambria Bold"/>
                  <a:ea typeface="Cambria Bold"/>
                  <a:cs typeface="Cambria Bold"/>
                  <a:sym typeface="Cambria Bold"/>
                </a:rPr>
                <a:t>Analytics Module</a:t>
              </a:r>
            </a:p>
          </p:txBody>
        </p:sp>
      </p:grpSp>
      <p:sp>
        <p:nvSpPr>
          <p:cNvPr name="Freeform 8" id="8"/>
          <p:cNvSpPr/>
          <p:nvPr/>
        </p:nvSpPr>
        <p:spPr>
          <a:xfrm flipH="false" flipV="false" rot="0">
            <a:off x="10240970" y="1581107"/>
            <a:ext cx="7682951" cy="8705893"/>
          </a:xfrm>
          <a:custGeom>
            <a:avLst/>
            <a:gdLst/>
            <a:ahLst/>
            <a:cxnLst/>
            <a:rect r="r" b="b" t="t" l="l"/>
            <a:pathLst>
              <a:path h="8705893" w="7682951">
                <a:moveTo>
                  <a:pt x="0" y="0"/>
                </a:moveTo>
                <a:lnTo>
                  <a:pt x="7682950" y="0"/>
                </a:lnTo>
                <a:lnTo>
                  <a:pt x="7682950" y="8705893"/>
                </a:lnTo>
                <a:lnTo>
                  <a:pt x="0" y="8705893"/>
                </a:lnTo>
                <a:lnTo>
                  <a:pt x="0" y="0"/>
                </a:lnTo>
                <a:close/>
              </a:path>
            </a:pathLst>
          </a:custGeom>
          <a:blipFill>
            <a:blip r:embed="rId4"/>
            <a:stretch>
              <a:fillRect l="0" t="0" r="0" b="0"/>
            </a:stretch>
          </a:blipFill>
          <a:ln w="9525" cap="sq">
            <a:solidFill>
              <a:srgbClr val="000000"/>
            </a:solidFill>
            <a:prstDash val="sysDot"/>
            <a:miter/>
          </a:ln>
        </p:spPr>
      </p:sp>
      <p:sp>
        <p:nvSpPr>
          <p:cNvPr name="Freeform 9" id="9"/>
          <p:cNvSpPr/>
          <p:nvPr/>
        </p:nvSpPr>
        <p:spPr>
          <a:xfrm flipH="false" flipV="false" rot="0">
            <a:off x="3604442" y="3014953"/>
            <a:ext cx="6636527" cy="6937741"/>
          </a:xfrm>
          <a:custGeom>
            <a:avLst/>
            <a:gdLst/>
            <a:ahLst/>
            <a:cxnLst/>
            <a:rect r="r" b="b" t="t" l="l"/>
            <a:pathLst>
              <a:path h="6937741" w="6636527">
                <a:moveTo>
                  <a:pt x="0" y="0"/>
                </a:moveTo>
                <a:lnTo>
                  <a:pt x="6636528" y="0"/>
                </a:lnTo>
                <a:lnTo>
                  <a:pt x="6636528" y="6937741"/>
                </a:lnTo>
                <a:lnTo>
                  <a:pt x="0" y="6937741"/>
                </a:lnTo>
                <a:lnTo>
                  <a:pt x="0" y="0"/>
                </a:lnTo>
                <a:close/>
              </a:path>
            </a:pathLst>
          </a:custGeom>
          <a:blipFill>
            <a:blip r:embed="rId5"/>
            <a:stretch>
              <a:fillRect l="-2186" t="0" r="0" b="0"/>
            </a:stretch>
          </a:blipFill>
          <a:ln w="9525" cap="sq">
            <a:solidFill>
              <a:srgbClr val="000000"/>
            </a:solidFill>
            <a:prstDash val="sysDot"/>
            <a:miter/>
          </a:ln>
        </p:spPr>
      </p:sp>
      <p:sp>
        <p:nvSpPr>
          <p:cNvPr name="TextBox 10" id="10"/>
          <p:cNvSpPr txBox="true"/>
          <p:nvPr/>
        </p:nvSpPr>
        <p:spPr>
          <a:xfrm rot="0">
            <a:off x="786347" y="1362075"/>
            <a:ext cx="6510519" cy="2129448"/>
          </a:xfrm>
          <a:prstGeom prst="rect">
            <a:avLst/>
          </a:prstGeom>
        </p:spPr>
        <p:txBody>
          <a:bodyPr anchor="t" rtlCol="false" tIns="0" lIns="0" bIns="0" rIns="0">
            <a:spAutoFit/>
          </a:bodyPr>
          <a:lstStyle/>
          <a:p>
            <a:pPr algn="l" marL="520810" indent="-260405" lvl="1">
              <a:lnSpc>
                <a:spcPts val="3377"/>
              </a:lnSpc>
              <a:buFont typeface="Arial"/>
              <a:buChar char="•"/>
            </a:pPr>
            <a:r>
              <a:rPr lang="en-US" sz="2412">
                <a:solidFill>
                  <a:srgbClr val="000000"/>
                </a:solidFill>
                <a:latin typeface="Cambria"/>
                <a:ea typeface="Cambria"/>
                <a:cs typeface="Cambria"/>
                <a:sym typeface="Cambria"/>
              </a:rPr>
              <a:t>Inte</a:t>
            </a:r>
            <a:r>
              <a:rPr lang="en-US" sz="2412">
                <a:solidFill>
                  <a:srgbClr val="000000"/>
                </a:solidFill>
                <a:latin typeface="Cambria"/>
                <a:ea typeface="Cambria"/>
                <a:cs typeface="Cambria"/>
                <a:sym typeface="Cambria"/>
              </a:rPr>
              <a:t>ractive filters for location/job title.</a:t>
            </a:r>
          </a:p>
          <a:p>
            <a:pPr algn="l" marL="520810" indent="-260405" lvl="1">
              <a:lnSpc>
                <a:spcPts val="3377"/>
              </a:lnSpc>
              <a:buFont typeface="Arial"/>
              <a:buChar char="•"/>
            </a:pPr>
            <a:r>
              <a:rPr lang="en-US" sz="2412">
                <a:solidFill>
                  <a:srgbClr val="000000"/>
                </a:solidFill>
                <a:latin typeface="Cambria"/>
                <a:ea typeface="Cambria"/>
                <a:cs typeface="Cambria"/>
                <a:sym typeface="Cambria"/>
              </a:rPr>
              <a:t>User Funnel.</a:t>
            </a:r>
          </a:p>
          <a:p>
            <a:pPr algn="l" marL="520810" indent="-260405" lvl="1">
              <a:lnSpc>
                <a:spcPts val="3377"/>
              </a:lnSpc>
              <a:buFont typeface="Arial"/>
              <a:buChar char="•"/>
            </a:pPr>
            <a:r>
              <a:rPr lang="en-US" sz="2412">
                <a:solidFill>
                  <a:srgbClr val="000000"/>
                </a:solidFill>
                <a:latin typeface="Cambria"/>
                <a:ea typeface="Cambria"/>
                <a:cs typeface="Cambria"/>
                <a:sym typeface="Cambria"/>
              </a:rPr>
              <a:t>Heatmap of location and job title.</a:t>
            </a:r>
          </a:p>
          <a:p>
            <a:pPr algn="l" marL="520810" indent="-260405" lvl="1">
              <a:lnSpc>
                <a:spcPts val="3377"/>
              </a:lnSpc>
              <a:buFont typeface="Arial"/>
              <a:buChar char="•"/>
            </a:pPr>
            <a:r>
              <a:rPr lang="en-US" sz="2412">
                <a:solidFill>
                  <a:srgbClr val="000000"/>
                </a:solidFill>
                <a:latin typeface="Cambria"/>
                <a:ea typeface="Cambria"/>
                <a:cs typeface="Cambria"/>
                <a:sym typeface="Cambria"/>
              </a:rPr>
              <a:t>Pie chart of application success/failure.</a:t>
            </a:r>
          </a:p>
          <a:p>
            <a:pPr algn="l" marL="520810" indent="-260405" lvl="1">
              <a:lnSpc>
                <a:spcPts val="3377"/>
              </a:lnSpc>
              <a:buFont typeface="Arial"/>
              <a:buChar char="•"/>
            </a:pPr>
            <a:r>
              <a:rPr lang="en-US" sz="2412">
                <a:solidFill>
                  <a:srgbClr val="000000"/>
                </a:solidFill>
                <a:latin typeface="Cambria"/>
                <a:ea typeface="Cambria"/>
                <a:cs typeface="Cambria"/>
                <a:sym typeface="Cambria"/>
              </a:rPr>
              <a:t>Skills WordCloud.</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18318">
            <a:off x="1176223" y="1352550"/>
            <a:ext cx="16087953" cy="0"/>
          </a:xfrm>
          <a:prstGeom prst="line">
            <a:avLst/>
          </a:prstGeom>
          <a:ln cap="rnd" w="47625">
            <a:solidFill>
              <a:srgbClr val="000000"/>
            </a:solidFill>
            <a:prstDash val="solid"/>
            <a:headEnd type="none" len="sm" w="sm"/>
            <a:tailEnd type="none" len="sm" w="sm"/>
          </a:ln>
        </p:spPr>
      </p:sp>
      <p:grpSp>
        <p:nvGrpSpPr>
          <p:cNvPr name="Group 3" id="3"/>
          <p:cNvGrpSpPr>
            <a:grpSpLocks noChangeAspect="true"/>
          </p:cNvGrpSpPr>
          <p:nvPr/>
        </p:nvGrpSpPr>
        <p:grpSpPr>
          <a:xfrm rot="0">
            <a:off x="0" y="8987049"/>
            <a:ext cx="18288002" cy="1299949"/>
            <a:chOff x="0" y="0"/>
            <a:chExt cx="24384002" cy="1733266"/>
          </a:xfrm>
        </p:grpSpPr>
        <p:sp>
          <p:nvSpPr>
            <p:cNvPr name="Freeform 4" id="4"/>
            <p:cNvSpPr/>
            <p:nvPr/>
          </p:nvSpPr>
          <p:spPr>
            <a:xfrm flipH="false" flipV="false" rot="0">
              <a:off x="0" y="0"/>
              <a:ext cx="24384000" cy="1733296"/>
            </a:xfrm>
            <a:custGeom>
              <a:avLst/>
              <a:gdLst/>
              <a:ahLst/>
              <a:cxnLst/>
              <a:rect r="r" b="b" t="t" l="l"/>
              <a:pathLst>
                <a:path h="1733296" w="24384000">
                  <a:moveTo>
                    <a:pt x="0" y="0"/>
                  </a:moveTo>
                  <a:lnTo>
                    <a:pt x="24384000" y="0"/>
                  </a:lnTo>
                  <a:lnTo>
                    <a:pt x="24384000" y="1733296"/>
                  </a:lnTo>
                  <a:lnTo>
                    <a:pt x="0" y="1733296"/>
                  </a:lnTo>
                  <a:lnTo>
                    <a:pt x="0" y="0"/>
                  </a:lnTo>
                  <a:close/>
                </a:path>
              </a:pathLst>
            </a:custGeom>
            <a:blipFill>
              <a:blip r:embed="rId3"/>
              <a:stretch>
                <a:fillRect l="0" t="0" r="0" b="-171062"/>
              </a:stretch>
            </a:blipFill>
          </p:spPr>
        </p:sp>
      </p:grpSp>
      <p:grpSp>
        <p:nvGrpSpPr>
          <p:cNvPr name="Group 5" id="5"/>
          <p:cNvGrpSpPr/>
          <p:nvPr/>
        </p:nvGrpSpPr>
        <p:grpSpPr>
          <a:xfrm rot="0">
            <a:off x="1257300" y="-655412"/>
            <a:ext cx="16002000" cy="3079544"/>
            <a:chOff x="0" y="0"/>
            <a:chExt cx="21336000" cy="4106059"/>
          </a:xfrm>
        </p:grpSpPr>
        <p:sp>
          <p:nvSpPr>
            <p:cNvPr name="Freeform 6" id="6"/>
            <p:cNvSpPr/>
            <p:nvPr/>
          </p:nvSpPr>
          <p:spPr>
            <a:xfrm flipH="false" flipV="false" rot="0">
              <a:off x="0" y="0"/>
              <a:ext cx="21336000" cy="4106059"/>
            </a:xfrm>
            <a:custGeom>
              <a:avLst/>
              <a:gdLst/>
              <a:ahLst/>
              <a:cxnLst/>
              <a:rect r="r" b="b" t="t" l="l"/>
              <a:pathLst>
                <a:path h="4106059" w="21336000">
                  <a:moveTo>
                    <a:pt x="0" y="0"/>
                  </a:moveTo>
                  <a:lnTo>
                    <a:pt x="21336000" y="0"/>
                  </a:lnTo>
                  <a:lnTo>
                    <a:pt x="21336000" y="4106059"/>
                  </a:lnTo>
                  <a:lnTo>
                    <a:pt x="0" y="4106059"/>
                  </a:lnTo>
                  <a:close/>
                </a:path>
              </a:pathLst>
            </a:custGeom>
            <a:solidFill>
              <a:srgbClr val="000000">
                <a:alpha val="0"/>
              </a:srgbClr>
            </a:solidFill>
          </p:spPr>
        </p:sp>
        <p:sp>
          <p:nvSpPr>
            <p:cNvPr name="TextBox 7" id="7"/>
            <p:cNvSpPr txBox="true"/>
            <p:nvPr/>
          </p:nvSpPr>
          <p:spPr>
            <a:xfrm>
              <a:off x="0" y="-485775"/>
              <a:ext cx="21336000" cy="4591834"/>
            </a:xfrm>
            <a:prstGeom prst="rect">
              <a:avLst/>
            </a:prstGeom>
          </p:spPr>
          <p:txBody>
            <a:bodyPr anchor="ctr" rtlCol="false" tIns="0" lIns="0" bIns="0" rIns="0"/>
            <a:lstStyle/>
            <a:p>
              <a:pPr algn="l">
                <a:lnSpc>
                  <a:spcPts val="10080"/>
                </a:lnSpc>
              </a:pPr>
              <a:r>
                <a:rPr lang="en-US" sz="4200" b="true">
                  <a:solidFill>
                    <a:srgbClr val="17365D"/>
                  </a:solidFill>
                  <a:latin typeface="Cambria Bold"/>
                  <a:ea typeface="Cambria Bold"/>
                  <a:cs typeface="Cambria Bold"/>
                  <a:sym typeface="Cambria Bold"/>
                </a:rPr>
                <a:t>Recommender System</a:t>
              </a:r>
            </a:p>
          </p:txBody>
        </p:sp>
      </p:grpSp>
      <p:sp>
        <p:nvSpPr>
          <p:cNvPr name="Freeform 8" id="8"/>
          <p:cNvSpPr/>
          <p:nvPr/>
        </p:nvSpPr>
        <p:spPr>
          <a:xfrm flipH="false" flipV="false" rot="0">
            <a:off x="8025321" y="1565220"/>
            <a:ext cx="9401898" cy="8179651"/>
          </a:xfrm>
          <a:custGeom>
            <a:avLst/>
            <a:gdLst/>
            <a:ahLst/>
            <a:cxnLst/>
            <a:rect r="r" b="b" t="t" l="l"/>
            <a:pathLst>
              <a:path h="8179651" w="9401898">
                <a:moveTo>
                  <a:pt x="0" y="0"/>
                </a:moveTo>
                <a:lnTo>
                  <a:pt x="9401898" y="0"/>
                </a:lnTo>
                <a:lnTo>
                  <a:pt x="9401898" y="8179651"/>
                </a:lnTo>
                <a:lnTo>
                  <a:pt x="0" y="8179651"/>
                </a:lnTo>
                <a:lnTo>
                  <a:pt x="0" y="0"/>
                </a:lnTo>
                <a:close/>
              </a:path>
            </a:pathLst>
          </a:custGeom>
          <a:blipFill>
            <a:blip r:embed="rId4"/>
            <a:stretch>
              <a:fillRect l="0" t="0" r="0" b="0"/>
            </a:stretch>
          </a:blipFill>
        </p:spPr>
      </p:sp>
      <p:sp>
        <p:nvSpPr>
          <p:cNvPr name="Freeform 9" id="9"/>
          <p:cNvSpPr/>
          <p:nvPr/>
        </p:nvSpPr>
        <p:spPr>
          <a:xfrm flipH="false" flipV="false" rot="0">
            <a:off x="1674068" y="4974118"/>
            <a:ext cx="4735078" cy="2530337"/>
          </a:xfrm>
          <a:custGeom>
            <a:avLst/>
            <a:gdLst/>
            <a:ahLst/>
            <a:cxnLst/>
            <a:rect r="r" b="b" t="t" l="l"/>
            <a:pathLst>
              <a:path h="2530337" w="4735078">
                <a:moveTo>
                  <a:pt x="0" y="0"/>
                </a:moveTo>
                <a:lnTo>
                  <a:pt x="4735078" y="0"/>
                </a:lnTo>
                <a:lnTo>
                  <a:pt x="4735078" y="2530336"/>
                </a:lnTo>
                <a:lnTo>
                  <a:pt x="0" y="2530336"/>
                </a:lnTo>
                <a:lnTo>
                  <a:pt x="0" y="0"/>
                </a:lnTo>
                <a:close/>
              </a:path>
            </a:pathLst>
          </a:custGeom>
          <a:blipFill>
            <a:blip r:embed="rId5"/>
            <a:stretch>
              <a:fillRect l="0" t="0" r="0" b="0"/>
            </a:stretch>
          </a:blipFill>
        </p:spPr>
      </p:sp>
      <p:sp>
        <p:nvSpPr>
          <p:cNvPr name="TextBox 10" id="10"/>
          <p:cNvSpPr txBox="true"/>
          <p:nvPr/>
        </p:nvSpPr>
        <p:spPr>
          <a:xfrm rot="0">
            <a:off x="786347" y="1362075"/>
            <a:ext cx="6510519" cy="2129448"/>
          </a:xfrm>
          <a:prstGeom prst="rect">
            <a:avLst/>
          </a:prstGeom>
        </p:spPr>
        <p:txBody>
          <a:bodyPr anchor="t" rtlCol="false" tIns="0" lIns="0" bIns="0" rIns="0">
            <a:spAutoFit/>
          </a:bodyPr>
          <a:lstStyle/>
          <a:p>
            <a:pPr algn="l" marL="520810" indent="-260405" lvl="1">
              <a:lnSpc>
                <a:spcPts val="3377"/>
              </a:lnSpc>
              <a:buFont typeface="Arial"/>
              <a:buChar char="•"/>
            </a:pPr>
            <a:r>
              <a:rPr lang="en-US" sz="2412">
                <a:solidFill>
                  <a:srgbClr val="000000"/>
                </a:solidFill>
                <a:latin typeface="Cambria"/>
                <a:ea typeface="Cambria"/>
                <a:cs typeface="Cambria"/>
                <a:sym typeface="Cambria"/>
              </a:rPr>
              <a:t>Conten</a:t>
            </a:r>
            <a:r>
              <a:rPr lang="en-US" sz="2412">
                <a:solidFill>
                  <a:srgbClr val="000000"/>
                </a:solidFill>
                <a:latin typeface="Cambria"/>
                <a:ea typeface="Cambria"/>
                <a:cs typeface="Cambria"/>
                <a:sym typeface="Cambria"/>
              </a:rPr>
              <a:t>t-based filtering.</a:t>
            </a:r>
          </a:p>
          <a:p>
            <a:pPr algn="l" marL="520810" indent="-260405" lvl="1">
              <a:lnSpc>
                <a:spcPts val="3377"/>
              </a:lnSpc>
              <a:buFont typeface="Arial"/>
              <a:buChar char="•"/>
            </a:pPr>
            <a:r>
              <a:rPr lang="en-US" sz="2412">
                <a:solidFill>
                  <a:srgbClr val="000000"/>
                </a:solidFill>
                <a:latin typeface="Cambria"/>
                <a:ea typeface="Cambria"/>
                <a:cs typeface="Cambria"/>
                <a:sym typeface="Cambria"/>
              </a:rPr>
              <a:t>Cosine similarity over skill vectors.</a:t>
            </a:r>
          </a:p>
          <a:p>
            <a:pPr algn="l" marL="520810" indent="-260405" lvl="1">
              <a:lnSpc>
                <a:spcPts val="3377"/>
              </a:lnSpc>
              <a:buFont typeface="Arial"/>
              <a:buChar char="•"/>
            </a:pPr>
            <a:r>
              <a:rPr lang="en-US" sz="2412">
                <a:solidFill>
                  <a:srgbClr val="000000"/>
                </a:solidFill>
                <a:latin typeface="Cambria"/>
                <a:ea typeface="Cambria"/>
                <a:cs typeface="Cambria"/>
                <a:sym typeface="Cambria"/>
              </a:rPr>
              <a:t>Skill tokenization &amp; overlap scoring.</a:t>
            </a:r>
          </a:p>
          <a:p>
            <a:pPr algn="l" marL="520810" indent="-260405" lvl="1">
              <a:lnSpc>
                <a:spcPts val="3377"/>
              </a:lnSpc>
              <a:buFont typeface="Arial"/>
              <a:buChar char="•"/>
            </a:pPr>
            <a:r>
              <a:rPr lang="en-US" sz="2412">
                <a:solidFill>
                  <a:srgbClr val="000000"/>
                </a:solidFill>
                <a:latin typeface="Cambria"/>
                <a:ea typeface="Cambria"/>
                <a:cs typeface="Cambria"/>
                <a:sym typeface="Cambria"/>
              </a:rPr>
              <a:t>Location boosting.</a:t>
            </a:r>
          </a:p>
          <a:p>
            <a:pPr algn="l" marL="520810" indent="-260405" lvl="1">
              <a:lnSpc>
                <a:spcPts val="3377"/>
              </a:lnSpc>
              <a:buFont typeface="Arial"/>
              <a:buChar char="•"/>
            </a:pPr>
            <a:r>
              <a:rPr lang="en-US" sz="2412">
                <a:solidFill>
                  <a:srgbClr val="000000"/>
                </a:solidFill>
                <a:latin typeface="Cambria"/>
                <a:ea typeface="Cambria"/>
                <a:cs typeface="Cambria"/>
                <a:sym typeface="Cambria"/>
              </a:rPr>
              <a:t>Popularity boosts.</a:t>
            </a:r>
          </a:p>
        </p:txBody>
      </p:sp>
      <p:sp>
        <p:nvSpPr>
          <p:cNvPr name="TextBox 11" id="11"/>
          <p:cNvSpPr txBox="true"/>
          <p:nvPr/>
        </p:nvSpPr>
        <p:spPr>
          <a:xfrm rot="0">
            <a:off x="2943382" y="7841382"/>
            <a:ext cx="1866941" cy="290218"/>
          </a:xfrm>
          <a:prstGeom prst="rect">
            <a:avLst/>
          </a:prstGeom>
        </p:spPr>
        <p:txBody>
          <a:bodyPr anchor="t" rtlCol="false" tIns="0" lIns="0" bIns="0" rIns="0">
            <a:spAutoFit/>
          </a:bodyPr>
          <a:lstStyle/>
          <a:p>
            <a:pPr algn="ctr">
              <a:lnSpc>
                <a:spcPts val="2329"/>
              </a:lnSpc>
              <a:spcBef>
                <a:spcPct val="0"/>
              </a:spcBef>
            </a:pPr>
            <a:r>
              <a:rPr lang="en-US" sz="1664">
                <a:solidFill>
                  <a:srgbClr val="000000"/>
                </a:solidFill>
                <a:latin typeface="Cambria"/>
                <a:ea typeface="Cambria"/>
                <a:cs typeface="Cambria"/>
                <a:sym typeface="Cambria"/>
              </a:rPr>
              <a:t>Downloaded CSV file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18318">
            <a:off x="1176223" y="1352550"/>
            <a:ext cx="16087953" cy="0"/>
          </a:xfrm>
          <a:prstGeom prst="line">
            <a:avLst/>
          </a:prstGeom>
          <a:ln cap="rnd" w="47625">
            <a:solidFill>
              <a:srgbClr val="000000"/>
            </a:solidFill>
            <a:prstDash val="solid"/>
            <a:headEnd type="none" len="sm" w="sm"/>
            <a:tailEnd type="none" len="sm" w="sm"/>
          </a:ln>
        </p:spPr>
      </p:sp>
      <p:grpSp>
        <p:nvGrpSpPr>
          <p:cNvPr name="Group 3" id="3"/>
          <p:cNvGrpSpPr>
            <a:grpSpLocks noChangeAspect="true"/>
          </p:cNvGrpSpPr>
          <p:nvPr/>
        </p:nvGrpSpPr>
        <p:grpSpPr>
          <a:xfrm rot="0">
            <a:off x="0" y="8987049"/>
            <a:ext cx="18288002" cy="1299949"/>
            <a:chOff x="0" y="0"/>
            <a:chExt cx="24384002" cy="1733266"/>
          </a:xfrm>
        </p:grpSpPr>
        <p:sp>
          <p:nvSpPr>
            <p:cNvPr name="Freeform 4" id="4"/>
            <p:cNvSpPr/>
            <p:nvPr/>
          </p:nvSpPr>
          <p:spPr>
            <a:xfrm flipH="false" flipV="false" rot="0">
              <a:off x="0" y="0"/>
              <a:ext cx="24384000" cy="1733296"/>
            </a:xfrm>
            <a:custGeom>
              <a:avLst/>
              <a:gdLst/>
              <a:ahLst/>
              <a:cxnLst/>
              <a:rect r="r" b="b" t="t" l="l"/>
              <a:pathLst>
                <a:path h="1733296" w="24384000">
                  <a:moveTo>
                    <a:pt x="0" y="0"/>
                  </a:moveTo>
                  <a:lnTo>
                    <a:pt x="24384000" y="0"/>
                  </a:lnTo>
                  <a:lnTo>
                    <a:pt x="24384000" y="1733296"/>
                  </a:lnTo>
                  <a:lnTo>
                    <a:pt x="0" y="1733296"/>
                  </a:lnTo>
                  <a:lnTo>
                    <a:pt x="0" y="0"/>
                  </a:lnTo>
                  <a:close/>
                </a:path>
              </a:pathLst>
            </a:custGeom>
            <a:blipFill>
              <a:blip r:embed="rId3"/>
              <a:stretch>
                <a:fillRect l="0" t="0" r="0" b="-171062"/>
              </a:stretch>
            </a:blipFill>
          </p:spPr>
        </p:sp>
      </p:grpSp>
      <p:grpSp>
        <p:nvGrpSpPr>
          <p:cNvPr name="Group 5" id="5"/>
          <p:cNvGrpSpPr/>
          <p:nvPr/>
        </p:nvGrpSpPr>
        <p:grpSpPr>
          <a:xfrm rot="0">
            <a:off x="1219200" y="602250"/>
            <a:ext cx="16002000" cy="731250"/>
            <a:chOff x="0" y="0"/>
            <a:chExt cx="21336000" cy="975000"/>
          </a:xfrm>
        </p:grpSpPr>
        <p:sp>
          <p:nvSpPr>
            <p:cNvPr name="Freeform 6" id="6"/>
            <p:cNvSpPr/>
            <p:nvPr/>
          </p:nvSpPr>
          <p:spPr>
            <a:xfrm flipH="false" flipV="false" rot="0">
              <a:off x="0" y="0"/>
              <a:ext cx="21336000" cy="975000"/>
            </a:xfrm>
            <a:custGeom>
              <a:avLst/>
              <a:gdLst/>
              <a:ahLst/>
              <a:cxnLst/>
              <a:rect r="r" b="b" t="t" l="l"/>
              <a:pathLst>
                <a:path h="975000" w="21336000">
                  <a:moveTo>
                    <a:pt x="0" y="0"/>
                  </a:moveTo>
                  <a:lnTo>
                    <a:pt x="21336000" y="0"/>
                  </a:lnTo>
                  <a:lnTo>
                    <a:pt x="21336000" y="975000"/>
                  </a:lnTo>
                  <a:lnTo>
                    <a:pt x="0" y="975000"/>
                  </a:lnTo>
                  <a:close/>
                </a:path>
              </a:pathLst>
            </a:custGeom>
            <a:solidFill>
              <a:srgbClr val="000000">
                <a:alpha val="0"/>
              </a:srgbClr>
            </a:solidFill>
          </p:spPr>
        </p:sp>
        <p:sp>
          <p:nvSpPr>
            <p:cNvPr name="TextBox 7" id="7"/>
            <p:cNvSpPr txBox="true"/>
            <p:nvPr/>
          </p:nvSpPr>
          <p:spPr>
            <a:xfrm>
              <a:off x="0" y="-485775"/>
              <a:ext cx="21336000" cy="1460775"/>
            </a:xfrm>
            <a:prstGeom prst="rect">
              <a:avLst/>
            </a:prstGeom>
          </p:spPr>
          <p:txBody>
            <a:bodyPr anchor="ctr" rtlCol="false" tIns="0" lIns="0" bIns="0" rIns="0"/>
            <a:lstStyle/>
            <a:p>
              <a:pPr algn="l">
                <a:lnSpc>
                  <a:spcPts val="10080"/>
                </a:lnSpc>
              </a:pPr>
              <a:r>
                <a:rPr lang="en-US" sz="4200" b="true">
                  <a:solidFill>
                    <a:srgbClr val="17365D"/>
                  </a:solidFill>
                  <a:latin typeface="Cambria Bold"/>
                  <a:ea typeface="Cambria Bold"/>
                  <a:cs typeface="Cambria Bold"/>
                  <a:sym typeface="Cambria Bold"/>
                </a:rPr>
                <a:t>Github Link</a:t>
              </a:r>
            </a:p>
          </p:txBody>
        </p:sp>
      </p:grpSp>
      <p:sp>
        <p:nvSpPr>
          <p:cNvPr name="TextBox 8" id="8"/>
          <p:cNvSpPr txBox="true"/>
          <p:nvPr/>
        </p:nvSpPr>
        <p:spPr>
          <a:xfrm rot="0">
            <a:off x="1139354" y="1832314"/>
            <a:ext cx="1962001" cy="476250"/>
          </a:xfrm>
          <a:prstGeom prst="rect">
            <a:avLst/>
          </a:prstGeom>
        </p:spPr>
        <p:txBody>
          <a:bodyPr anchor="t" rtlCol="false" tIns="0" lIns="0" bIns="0" rIns="0">
            <a:spAutoFit/>
          </a:bodyPr>
          <a:lstStyle/>
          <a:p>
            <a:pPr algn="ctr">
              <a:lnSpc>
                <a:spcPts val="3600"/>
              </a:lnSpc>
            </a:pPr>
            <a:r>
              <a:rPr lang="en-US" b="true" sz="3000" u="sng">
                <a:solidFill>
                  <a:srgbClr val="000000"/>
                </a:solidFill>
                <a:latin typeface="Cambria Bold"/>
                <a:ea typeface="Cambria Bold"/>
                <a:cs typeface="Cambria Bold"/>
                <a:sym typeface="Cambria Bold"/>
                <a:hlinkClick r:id="rId4" tooltip="https://github.com/codebreaker17jpg/PGRKAM"/>
              </a:rPr>
              <a:t>Github link</a:t>
            </a:r>
          </a:p>
        </p:txBody>
      </p:sp>
      <p:sp>
        <p:nvSpPr>
          <p:cNvPr name="TextBox 9" id="9"/>
          <p:cNvSpPr txBox="true"/>
          <p:nvPr/>
        </p:nvSpPr>
        <p:spPr>
          <a:xfrm rot="0">
            <a:off x="3203495" y="1832314"/>
            <a:ext cx="126504" cy="476250"/>
          </a:xfrm>
          <a:prstGeom prst="rect">
            <a:avLst/>
          </a:prstGeom>
        </p:spPr>
        <p:txBody>
          <a:bodyPr anchor="t" rtlCol="false" tIns="0" lIns="0" bIns="0" rIns="0">
            <a:spAutoFit/>
          </a:bodyPr>
          <a:lstStyle/>
          <a:p>
            <a:pPr algn="ctr">
              <a:lnSpc>
                <a:spcPts val="3600"/>
              </a:lnSpc>
              <a:spcBef>
                <a:spcPct val="0"/>
              </a:spcBef>
            </a:pPr>
            <a:r>
              <a:rPr lang="en-US" sz="3000">
                <a:solidFill>
                  <a:srgbClr val="000000"/>
                </a:solidFill>
                <a:latin typeface="Cambria"/>
                <a:ea typeface="Cambria"/>
                <a:cs typeface="Cambria"/>
                <a:sym typeface="Cambria"/>
              </a:rPr>
              <a:t>-</a:t>
            </a:r>
          </a:p>
        </p:txBody>
      </p:sp>
      <p:sp>
        <p:nvSpPr>
          <p:cNvPr name="TextBox 10" id="10"/>
          <p:cNvSpPr txBox="true"/>
          <p:nvPr/>
        </p:nvSpPr>
        <p:spPr>
          <a:xfrm rot="0">
            <a:off x="3619877" y="1832314"/>
            <a:ext cx="8339435" cy="476250"/>
          </a:xfrm>
          <a:prstGeom prst="rect">
            <a:avLst/>
          </a:prstGeom>
        </p:spPr>
        <p:txBody>
          <a:bodyPr anchor="t" rtlCol="false" tIns="0" lIns="0" bIns="0" rIns="0">
            <a:spAutoFit/>
          </a:bodyPr>
          <a:lstStyle/>
          <a:p>
            <a:pPr algn="ctr">
              <a:lnSpc>
                <a:spcPts val="3600"/>
              </a:lnSpc>
              <a:spcBef>
                <a:spcPct val="0"/>
              </a:spcBef>
            </a:pPr>
            <a:r>
              <a:rPr lang="en-US" sz="3000">
                <a:solidFill>
                  <a:srgbClr val="000000"/>
                </a:solidFill>
                <a:latin typeface="Cambria"/>
                <a:ea typeface="Cambria"/>
                <a:cs typeface="Cambria"/>
                <a:sym typeface="Cambria"/>
              </a:rPr>
              <a:t>https://github.com/codebreaker17jpg/PSCS_16.git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18318">
            <a:off x="1176223" y="1352550"/>
            <a:ext cx="16087953" cy="0"/>
          </a:xfrm>
          <a:prstGeom prst="line">
            <a:avLst/>
          </a:prstGeom>
          <a:ln cap="rnd" w="47625">
            <a:solidFill>
              <a:srgbClr val="000000"/>
            </a:solidFill>
            <a:prstDash val="solid"/>
            <a:headEnd type="none" len="sm" w="sm"/>
            <a:tailEnd type="none" len="sm" w="sm"/>
          </a:ln>
        </p:spPr>
      </p:sp>
      <p:grpSp>
        <p:nvGrpSpPr>
          <p:cNvPr name="Group 3" id="3"/>
          <p:cNvGrpSpPr>
            <a:grpSpLocks noChangeAspect="true"/>
          </p:cNvGrpSpPr>
          <p:nvPr/>
        </p:nvGrpSpPr>
        <p:grpSpPr>
          <a:xfrm rot="0">
            <a:off x="0" y="8987049"/>
            <a:ext cx="18288002" cy="1299949"/>
            <a:chOff x="0" y="0"/>
            <a:chExt cx="24384002" cy="1733266"/>
          </a:xfrm>
        </p:grpSpPr>
        <p:sp>
          <p:nvSpPr>
            <p:cNvPr name="Freeform 4" id="4"/>
            <p:cNvSpPr/>
            <p:nvPr/>
          </p:nvSpPr>
          <p:spPr>
            <a:xfrm flipH="false" flipV="false" rot="0">
              <a:off x="0" y="0"/>
              <a:ext cx="24384000" cy="1733296"/>
            </a:xfrm>
            <a:custGeom>
              <a:avLst/>
              <a:gdLst/>
              <a:ahLst/>
              <a:cxnLst/>
              <a:rect r="r" b="b" t="t" l="l"/>
              <a:pathLst>
                <a:path h="1733296" w="24384000">
                  <a:moveTo>
                    <a:pt x="0" y="0"/>
                  </a:moveTo>
                  <a:lnTo>
                    <a:pt x="24384000" y="0"/>
                  </a:lnTo>
                  <a:lnTo>
                    <a:pt x="24384000" y="1733296"/>
                  </a:lnTo>
                  <a:lnTo>
                    <a:pt x="0" y="1733296"/>
                  </a:lnTo>
                  <a:lnTo>
                    <a:pt x="0" y="0"/>
                  </a:lnTo>
                  <a:close/>
                </a:path>
              </a:pathLst>
            </a:custGeom>
            <a:blipFill>
              <a:blip r:embed="rId3"/>
              <a:stretch>
                <a:fillRect l="0" t="0" r="0" b="-171062"/>
              </a:stretch>
            </a:blipFill>
          </p:spPr>
        </p:sp>
      </p:grpSp>
      <p:grpSp>
        <p:nvGrpSpPr>
          <p:cNvPr name="Group 5" id="5"/>
          <p:cNvGrpSpPr/>
          <p:nvPr/>
        </p:nvGrpSpPr>
        <p:grpSpPr>
          <a:xfrm rot="0">
            <a:off x="1143001" y="-526312"/>
            <a:ext cx="16002000" cy="3719624"/>
            <a:chOff x="0" y="0"/>
            <a:chExt cx="21336000" cy="4959499"/>
          </a:xfrm>
        </p:grpSpPr>
        <p:sp>
          <p:nvSpPr>
            <p:cNvPr name="Freeform 6" id="6"/>
            <p:cNvSpPr/>
            <p:nvPr/>
          </p:nvSpPr>
          <p:spPr>
            <a:xfrm flipH="false" flipV="false" rot="0">
              <a:off x="0" y="0"/>
              <a:ext cx="21336000" cy="4959499"/>
            </a:xfrm>
            <a:custGeom>
              <a:avLst/>
              <a:gdLst/>
              <a:ahLst/>
              <a:cxnLst/>
              <a:rect r="r" b="b" t="t" l="l"/>
              <a:pathLst>
                <a:path h="4959499" w="21336000">
                  <a:moveTo>
                    <a:pt x="0" y="0"/>
                  </a:moveTo>
                  <a:lnTo>
                    <a:pt x="21336000" y="0"/>
                  </a:lnTo>
                  <a:lnTo>
                    <a:pt x="21336000" y="4959499"/>
                  </a:lnTo>
                  <a:lnTo>
                    <a:pt x="0" y="4959499"/>
                  </a:lnTo>
                  <a:close/>
                </a:path>
              </a:pathLst>
            </a:custGeom>
            <a:solidFill>
              <a:srgbClr val="000000">
                <a:alpha val="0"/>
              </a:srgbClr>
            </a:solidFill>
          </p:spPr>
        </p:sp>
        <p:sp>
          <p:nvSpPr>
            <p:cNvPr name="TextBox 7" id="7"/>
            <p:cNvSpPr txBox="true"/>
            <p:nvPr/>
          </p:nvSpPr>
          <p:spPr>
            <a:xfrm>
              <a:off x="0" y="-9525"/>
              <a:ext cx="21336000" cy="4969024"/>
            </a:xfrm>
            <a:prstGeom prst="rect">
              <a:avLst/>
            </a:prstGeom>
          </p:spPr>
          <p:txBody>
            <a:bodyPr anchor="ctr" rtlCol="false" tIns="0" lIns="0" bIns="0" rIns="0"/>
            <a:lstStyle/>
            <a:p>
              <a:pPr algn="l">
                <a:lnSpc>
                  <a:spcPts val="5040"/>
                </a:lnSpc>
              </a:pPr>
              <a:r>
                <a:rPr lang="en-US" sz="4200" b="true">
                  <a:solidFill>
                    <a:srgbClr val="17365D"/>
                  </a:solidFill>
                  <a:latin typeface="Cambria Bold"/>
                  <a:ea typeface="Cambria Bold"/>
                  <a:cs typeface="Cambria Bold"/>
                  <a:sym typeface="Cambria Bold"/>
                </a:rPr>
                <a:t>Results and evaluation</a:t>
              </a:r>
            </a:p>
            <a:p>
              <a:pPr algn="l">
                <a:lnSpc>
                  <a:spcPts val="5040"/>
                </a:lnSpc>
              </a:pPr>
            </a:p>
          </p:txBody>
        </p:sp>
      </p:grpSp>
      <p:sp>
        <p:nvSpPr>
          <p:cNvPr name="TextBox 8" id="8"/>
          <p:cNvSpPr txBox="true"/>
          <p:nvPr/>
        </p:nvSpPr>
        <p:spPr>
          <a:xfrm rot="0">
            <a:off x="324150" y="1757525"/>
            <a:ext cx="16939912" cy="5352002"/>
          </a:xfrm>
          <a:prstGeom prst="rect">
            <a:avLst/>
          </a:prstGeom>
        </p:spPr>
        <p:txBody>
          <a:bodyPr anchor="t" rtlCol="false" tIns="0" lIns="0" bIns="0" rIns="0">
            <a:spAutoFit/>
          </a:bodyPr>
          <a:lstStyle/>
          <a:p>
            <a:pPr algn="l" marL="760627" indent="-380314" lvl="1">
              <a:lnSpc>
                <a:spcPts val="4227"/>
              </a:lnSpc>
              <a:buFont typeface="Arial"/>
              <a:buChar char="•"/>
            </a:pPr>
            <a:r>
              <a:rPr lang="en-US" sz="3523" spc="3">
                <a:solidFill>
                  <a:srgbClr val="000000"/>
                </a:solidFill>
                <a:latin typeface="Cambria"/>
                <a:ea typeface="Cambria"/>
                <a:cs typeface="Cambria"/>
                <a:sym typeface="Cambria"/>
              </a:rPr>
              <a:t>The analytics dashboard correctly aggregates users by location and frequency of skills. Recommendations from the system provide substantial improvements in skill overlap when compared to random baselines. In simulated ablation tests, adding a city boost improved apparent precision@5 by several percentage points. Detailed numerical tables are provided as placeholders. </a:t>
            </a:r>
          </a:p>
          <a:p>
            <a:pPr algn="l" marL="760627" indent="-380314" lvl="1">
              <a:lnSpc>
                <a:spcPts val="4227"/>
              </a:lnSpc>
              <a:buFont typeface="Arial"/>
              <a:buChar char="•"/>
            </a:pPr>
            <a:r>
              <a:rPr lang="en-US" sz="3523" spc="3">
                <a:solidFill>
                  <a:srgbClr val="000000"/>
                </a:solidFill>
                <a:latin typeface="Cambria"/>
                <a:ea typeface="Cambria"/>
                <a:cs typeface="Cambria"/>
                <a:sym typeface="Cambria"/>
              </a:rPr>
              <a:t>The testing covered data integrity checks, recommender correctness, UI responsiveness, and load tests for the recommendation endpoint. Test cases validated that the recommended jobs have non-empty matched skills and that city boosts work as expected.</a:t>
            </a:r>
          </a:p>
          <a:p>
            <a:pPr algn="l">
              <a:lnSpc>
                <a:spcPts val="4227"/>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18318">
            <a:off x="1176223" y="1352550"/>
            <a:ext cx="16087953" cy="0"/>
          </a:xfrm>
          <a:prstGeom prst="line">
            <a:avLst/>
          </a:prstGeom>
          <a:ln cap="rnd" w="47625">
            <a:solidFill>
              <a:srgbClr val="000000"/>
            </a:solidFill>
            <a:prstDash val="solid"/>
            <a:headEnd type="none" len="sm" w="sm"/>
            <a:tailEnd type="none" len="sm" w="sm"/>
          </a:ln>
        </p:spPr>
      </p:sp>
      <p:grpSp>
        <p:nvGrpSpPr>
          <p:cNvPr name="Group 3" id="3"/>
          <p:cNvGrpSpPr>
            <a:grpSpLocks noChangeAspect="true"/>
          </p:cNvGrpSpPr>
          <p:nvPr/>
        </p:nvGrpSpPr>
        <p:grpSpPr>
          <a:xfrm rot="0">
            <a:off x="0" y="8987049"/>
            <a:ext cx="18288002" cy="1299949"/>
            <a:chOff x="0" y="0"/>
            <a:chExt cx="24384002" cy="1733266"/>
          </a:xfrm>
        </p:grpSpPr>
        <p:sp>
          <p:nvSpPr>
            <p:cNvPr name="Freeform 4" id="4"/>
            <p:cNvSpPr/>
            <p:nvPr/>
          </p:nvSpPr>
          <p:spPr>
            <a:xfrm flipH="false" flipV="false" rot="0">
              <a:off x="0" y="0"/>
              <a:ext cx="24384000" cy="1733296"/>
            </a:xfrm>
            <a:custGeom>
              <a:avLst/>
              <a:gdLst/>
              <a:ahLst/>
              <a:cxnLst/>
              <a:rect r="r" b="b" t="t" l="l"/>
              <a:pathLst>
                <a:path h="1733296" w="24384000">
                  <a:moveTo>
                    <a:pt x="0" y="0"/>
                  </a:moveTo>
                  <a:lnTo>
                    <a:pt x="24384000" y="0"/>
                  </a:lnTo>
                  <a:lnTo>
                    <a:pt x="24384000" y="1733296"/>
                  </a:lnTo>
                  <a:lnTo>
                    <a:pt x="0" y="1733296"/>
                  </a:lnTo>
                  <a:lnTo>
                    <a:pt x="0" y="0"/>
                  </a:lnTo>
                  <a:close/>
                </a:path>
              </a:pathLst>
            </a:custGeom>
            <a:blipFill>
              <a:blip r:embed="rId3"/>
              <a:stretch>
                <a:fillRect l="0" t="0" r="0" b="-171062"/>
              </a:stretch>
            </a:blipFill>
          </p:spPr>
        </p:sp>
      </p:grpSp>
      <p:grpSp>
        <p:nvGrpSpPr>
          <p:cNvPr name="Group 5" id="5"/>
          <p:cNvGrpSpPr/>
          <p:nvPr/>
        </p:nvGrpSpPr>
        <p:grpSpPr>
          <a:xfrm rot="0">
            <a:off x="1143001" y="-526312"/>
            <a:ext cx="16002000" cy="3081449"/>
            <a:chOff x="0" y="0"/>
            <a:chExt cx="21336000" cy="4108599"/>
          </a:xfrm>
        </p:grpSpPr>
        <p:sp>
          <p:nvSpPr>
            <p:cNvPr name="Freeform 6" id="6"/>
            <p:cNvSpPr/>
            <p:nvPr/>
          </p:nvSpPr>
          <p:spPr>
            <a:xfrm flipH="false" flipV="false" rot="0">
              <a:off x="0" y="0"/>
              <a:ext cx="21336000" cy="4108599"/>
            </a:xfrm>
            <a:custGeom>
              <a:avLst/>
              <a:gdLst/>
              <a:ahLst/>
              <a:cxnLst/>
              <a:rect r="r" b="b" t="t" l="l"/>
              <a:pathLst>
                <a:path h="4108599" w="21336000">
                  <a:moveTo>
                    <a:pt x="0" y="0"/>
                  </a:moveTo>
                  <a:lnTo>
                    <a:pt x="21336000" y="0"/>
                  </a:lnTo>
                  <a:lnTo>
                    <a:pt x="21336000" y="4108599"/>
                  </a:lnTo>
                  <a:lnTo>
                    <a:pt x="0" y="4108599"/>
                  </a:lnTo>
                  <a:close/>
                </a:path>
              </a:pathLst>
            </a:custGeom>
            <a:solidFill>
              <a:srgbClr val="000000">
                <a:alpha val="0"/>
              </a:srgbClr>
            </a:solidFill>
          </p:spPr>
        </p:sp>
        <p:sp>
          <p:nvSpPr>
            <p:cNvPr name="TextBox 7" id="7"/>
            <p:cNvSpPr txBox="true"/>
            <p:nvPr/>
          </p:nvSpPr>
          <p:spPr>
            <a:xfrm>
              <a:off x="0" y="-9525"/>
              <a:ext cx="21336000" cy="4118124"/>
            </a:xfrm>
            <a:prstGeom prst="rect">
              <a:avLst/>
            </a:prstGeom>
          </p:spPr>
          <p:txBody>
            <a:bodyPr anchor="ctr" rtlCol="false" tIns="0" lIns="0" bIns="0" rIns="0"/>
            <a:lstStyle/>
            <a:p>
              <a:pPr algn="l">
                <a:lnSpc>
                  <a:spcPts val="5040"/>
                </a:lnSpc>
              </a:pPr>
              <a:r>
                <a:rPr lang="en-US" sz="4200" b="true">
                  <a:solidFill>
                    <a:srgbClr val="17365D"/>
                  </a:solidFill>
                  <a:latin typeface="Cambria Bold"/>
                  <a:ea typeface="Cambria Bold"/>
                  <a:cs typeface="Cambria Bold"/>
                  <a:sym typeface="Cambria Bold"/>
                </a:rPr>
                <a:t>Conclusion &amp; Future Scope</a:t>
              </a:r>
            </a:p>
          </p:txBody>
        </p:sp>
      </p:grpSp>
      <p:sp>
        <p:nvSpPr>
          <p:cNvPr name="TextBox 8" id="8"/>
          <p:cNvSpPr txBox="true"/>
          <p:nvPr/>
        </p:nvSpPr>
        <p:spPr>
          <a:xfrm rot="0">
            <a:off x="324150" y="1757525"/>
            <a:ext cx="16939912" cy="6419850"/>
          </a:xfrm>
          <a:prstGeom prst="rect">
            <a:avLst/>
          </a:prstGeom>
        </p:spPr>
        <p:txBody>
          <a:bodyPr anchor="t" rtlCol="false" tIns="0" lIns="0" bIns="0" rIns="0">
            <a:spAutoFit/>
          </a:bodyPr>
          <a:lstStyle/>
          <a:p>
            <a:pPr algn="l" marL="760628" indent="-380314" lvl="1">
              <a:lnSpc>
                <a:spcPts val="4227"/>
              </a:lnSpc>
              <a:buFont typeface="Arial"/>
              <a:buChar char="•"/>
            </a:pPr>
            <a:r>
              <a:rPr lang="en-US" sz="3523" spc="3">
                <a:solidFill>
                  <a:srgbClr val="000000"/>
                </a:solidFill>
                <a:latin typeface="Cambria"/>
                <a:ea typeface="Cambria"/>
                <a:cs typeface="Cambria"/>
                <a:sym typeface="Cambria"/>
              </a:rPr>
              <a:t>This project developed and validated a prototype for integrating analytics and a content-based recommender into the PGRKAM employment portal. We demonstrated that, with synthetic data, descriptive analytics and skill-overlap scoring can improve the capabilities in job discovery and provide actionable insights for administrators. Work remains to integrate collaborative filtering for behavioral signals, apply genetic algorithms to perform multiobjective optimization over rank, and leverag</a:t>
            </a:r>
            <a:r>
              <a:rPr lang="en-US" sz="3523" spc="3">
                <a:solidFill>
                  <a:srgbClr val="000000"/>
                </a:solidFill>
                <a:latin typeface="Cambria"/>
                <a:ea typeface="Cambria"/>
                <a:cs typeface="Cambria"/>
                <a:sym typeface="Cambria"/>
              </a:rPr>
              <a:t>e semantic matching through LLMs to handle phrasal variation in skill descriptions. A production deployment will also require robust privacy protection, monitoring for fairness, and other forms of outreach to increase rural participation. </a:t>
            </a:r>
          </a:p>
          <a:p>
            <a:pPr algn="l" marL="760628" indent="-380314" lvl="1">
              <a:lnSpc>
                <a:spcPts val="4227"/>
              </a:lnSpc>
              <a:buFont typeface="Arial"/>
              <a:buChar char="•"/>
            </a:pPr>
            <a:r>
              <a:rPr lang="en-US" sz="3523" spc="5">
                <a:solidFill>
                  <a:srgbClr val="000000"/>
                </a:solidFill>
                <a:latin typeface="Cambria"/>
                <a:ea typeface="Cambria"/>
                <a:cs typeface="Cambria"/>
                <a:sym typeface="Cambria"/>
              </a:rPr>
              <a:t>Future work will involve LLM-based semantic parsing of resumes and job descriptions, active learning to collect labeled outcomes, federation of sensitive data for privacy; and a richer admin console for A/B testing and monitoring.</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18318">
            <a:off x="1176223" y="1352550"/>
            <a:ext cx="16087953" cy="0"/>
          </a:xfrm>
          <a:prstGeom prst="line">
            <a:avLst/>
          </a:prstGeom>
          <a:ln cap="rnd" w="47625">
            <a:solidFill>
              <a:srgbClr val="000000"/>
            </a:solidFill>
            <a:prstDash val="solid"/>
            <a:headEnd type="none" len="sm" w="sm"/>
            <a:tailEnd type="none" len="sm" w="sm"/>
          </a:ln>
        </p:spPr>
      </p:sp>
      <p:grpSp>
        <p:nvGrpSpPr>
          <p:cNvPr name="Group 3" id="3"/>
          <p:cNvGrpSpPr>
            <a:grpSpLocks noChangeAspect="true"/>
          </p:cNvGrpSpPr>
          <p:nvPr/>
        </p:nvGrpSpPr>
        <p:grpSpPr>
          <a:xfrm rot="0">
            <a:off x="0" y="8987049"/>
            <a:ext cx="18288002" cy="1299949"/>
            <a:chOff x="0" y="0"/>
            <a:chExt cx="24384002" cy="1733266"/>
          </a:xfrm>
        </p:grpSpPr>
        <p:sp>
          <p:nvSpPr>
            <p:cNvPr name="Freeform 4" id="4"/>
            <p:cNvSpPr/>
            <p:nvPr/>
          </p:nvSpPr>
          <p:spPr>
            <a:xfrm flipH="false" flipV="false" rot="0">
              <a:off x="0" y="0"/>
              <a:ext cx="24384000" cy="1733296"/>
            </a:xfrm>
            <a:custGeom>
              <a:avLst/>
              <a:gdLst/>
              <a:ahLst/>
              <a:cxnLst/>
              <a:rect r="r" b="b" t="t" l="l"/>
              <a:pathLst>
                <a:path h="1733296" w="24384000">
                  <a:moveTo>
                    <a:pt x="0" y="0"/>
                  </a:moveTo>
                  <a:lnTo>
                    <a:pt x="24384000" y="0"/>
                  </a:lnTo>
                  <a:lnTo>
                    <a:pt x="24384000" y="1733296"/>
                  </a:lnTo>
                  <a:lnTo>
                    <a:pt x="0" y="1733296"/>
                  </a:lnTo>
                  <a:lnTo>
                    <a:pt x="0" y="0"/>
                  </a:lnTo>
                  <a:close/>
                </a:path>
              </a:pathLst>
            </a:custGeom>
            <a:blipFill>
              <a:blip r:embed="rId3"/>
              <a:stretch>
                <a:fillRect l="0" t="0" r="0" b="-171062"/>
              </a:stretch>
            </a:blipFill>
          </p:spPr>
        </p:sp>
      </p:grpSp>
      <p:grpSp>
        <p:nvGrpSpPr>
          <p:cNvPr name="Group 5" id="5"/>
          <p:cNvGrpSpPr>
            <a:grpSpLocks noChangeAspect="true"/>
          </p:cNvGrpSpPr>
          <p:nvPr/>
        </p:nvGrpSpPr>
        <p:grpSpPr>
          <a:xfrm rot="0">
            <a:off x="6124216" y="2161972"/>
            <a:ext cx="5839957" cy="5903206"/>
            <a:chOff x="0" y="0"/>
            <a:chExt cx="7786610" cy="7870942"/>
          </a:xfrm>
        </p:grpSpPr>
        <p:sp>
          <p:nvSpPr>
            <p:cNvPr name="Freeform 6" id="6"/>
            <p:cNvSpPr/>
            <p:nvPr/>
          </p:nvSpPr>
          <p:spPr>
            <a:xfrm flipH="false" flipV="false" rot="0">
              <a:off x="0" y="0"/>
              <a:ext cx="7786624" cy="7870952"/>
            </a:xfrm>
            <a:custGeom>
              <a:avLst/>
              <a:gdLst/>
              <a:ahLst/>
              <a:cxnLst/>
              <a:rect r="r" b="b" t="t" l="l"/>
              <a:pathLst>
                <a:path h="7870952" w="7786624">
                  <a:moveTo>
                    <a:pt x="0" y="0"/>
                  </a:moveTo>
                  <a:lnTo>
                    <a:pt x="7786624" y="0"/>
                  </a:lnTo>
                  <a:lnTo>
                    <a:pt x="7786624" y="7870952"/>
                  </a:lnTo>
                  <a:lnTo>
                    <a:pt x="0" y="7870952"/>
                  </a:lnTo>
                  <a:lnTo>
                    <a:pt x="0" y="0"/>
                  </a:lnTo>
                  <a:close/>
                </a:path>
              </a:pathLst>
            </a:custGeom>
            <a:blipFill>
              <a:blip r:embed="rId4"/>
              <a:stretch>
                <a:fillRect l="0" t="0" r="0"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DAGwb3Tc_HE</dc:identifier>
  <dcterms:modified xsi:type="dcterms:W3CDTF">2011-08-01T06:04:30Z</dcterms:modified>
  <cp:revision>1</cp:revision>
  <dc:title>CAI_48_PSCS_16_REVIEW - 3.pptx</dc:title>
</cp:coreProperties>
</file>